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1.jpg" ContentType="image/jpg"/>
  <Override PartName="/ppt/media/image2.jpg" ContentType="image/jpg"/>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4" r:id="rId2"/>
    <p:sldId id="257" r:id="rId3"/>
    <p:sldId id="276" r:id="rId4"/>
    <p:sldId id="280" r:id="rId5"/>
    <p:sldId id="258" r:id="rId6"/>
    <p:sldId id="279" r:id="rId7"/>
    <p:sldId id="278" r:id="rId8"/>
    <p:sldId id="260" r:id="rId9"/>
    <p:sldId id="277" r:id="rId10"/>
    <p:sldId id="273" r:id="rId11"/>
    <p:sldId id="275"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FA1B1F-E1EB-48C0-8915-2D618768F9CC}" v="10" dt="2026-07-23T03:15:04.7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36" autoAdjust="0"/>
    <p:restoredTop sz="94660"/>
  </p:normalViewPr>
  <p:slideViewPr>
    <p:cSldViewPr snapToGrid="0">
      <p:cViewPr varScale="1">
        <p:scale>
          <a:sx n="78" d="100"/>
          <a:sy n="78" d="100"/>
        </p:scale>
        <p:origin x="1608" y="6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evithkumar775@outlook.com" userId="beebfe8987aa830a" providerId="LiveId" clId="{952F0A22-8037-4472-9452-BD7208E78A99}"/>
    <pc:docChg chg="addSld modSld sldOrd">
      <pc:chgData name="jeevithkumar775@outlook.com" userId="beebfe8987aa830a" providerId="LiveId" clId="{952F0A22-8037-4472-9452-BD7208E78A99}" dt="2026-07-23T03:18:40.361" v="63" actId="123"/>
      <pc:docMkLst>
        <pc:docMk/>
      </pc:docMkLst>
      <pc:sldChg chg="modSp mod">
        <pc:chgData name="jeevithkumar775@outlook.com" userId="beebfe8987aa830a" providerId="LiveId" clId="{952F0A22-8037-4472-9452-BD7208E78A99}" dt="2026-07-23T03:18:40.361" v="63" actId="123"/>
        <pc:sldMkLst>
          <pc:docMk/>
          <pc:sldMk cId="0" sldId="257"/>
        </pc:sldMkLst>
        <pc:spChg chg="mod">
          <ac:chgData name="jeevithkumar775@outlook.com" userId="beebfe8987aa830a" providerId="LiveId" clId="{952F0A22-8037-4472-9452-BD7208E78A99}" dt="2026-07-23T03:18:40.361" v="63" actId="123"/>
          <ac:spMkLst>
            <pc:docMk/>
            <pc:sldMk cId="0" sldId="257"/>
            <ac:spMk id="3" creationId="{00000000-0000-0000-0000-000000000000}"/>
          </ac:spMkLst>
        </pc:spChg>
      </pc:sldChg>
      <pc:sldChg chg="modSp mod">
        <pc:chgData name="jeevithkumar775@outlook.com" userId="beebfe8987aa830a" providerId="LiveId" clId="{952F0A22-8037-4472-9452-BD7208E78A99}" dt="2026-07-23T03:18:05.457" v="60" actId="120"/>
        <pc:sldMkLst>
          <pc:docMk/>
          <pc:sldMk cId="0" sldId="258"/>
        </pc:sldMkLst>
        <pc:spChg chg="mod">
          <ac:chgData name="jeevithkumar775@outlook.com" userId="beebfe8987aa830a" providerId="LiveId" clId="{952F0A22-8037-4472-9452-BD7208E78A99}" dt="2026-07-23T03:18:05.457" v="60" actId="120"/>
          <ac:spMkLst>
            <pc:docMk/>
            <pc:sldMk cId="0" sldId="258"/>
            <ac:spMk id="3" creationId="{00000000-0000-0000-0000-000000000000}"/>
          </ac:spMkLst>
        </pc:spChg>
      </pc:sldChg>
      <pc:sldChg chg="modSp mod ord">
        <pc:chgData name="jeevithkumar775@outlook.com" userId="beebfe8987aa830a" providerId="LiveId" clId="{952F0A22-8037-4472-9452-BD7208E78A99}" dt="2026-07-23T03:18:16.787" v="61" actId="123"/>
        <pc:sldMkLst>
          <pc:docMk/>
          <pc:sldMk cId="0" sldId="273"/>
        </pc:sldMkLst>
        <pc:spChg chg="mod">
          <ac:chgData name="jeevithkumar775@outlook.com" userId="beebfe8987aa830a" providerId="LiveId" clId="{952F0A22-8037-4472-9452-BD7208E78A99}" dt="2026-07-23T03:18:16.787" v="61" actId="123"/>
          <ac:spMkLst>
            <pc:docMk/>
            <pc:sldMk cId="0" sldId="273"/>
            <ac:spMk id="3" creationId="{00000000-0000-0000-0000-000000000000}"/>
          </ac:spMkLst>
        </pc:spChg>
      </pc:sldChg>
      <pc:sldChg chg="modSp mod">
        <pc:chgData name="jeevithkumar775@outlook.com" userId="beebfe8987aa830a" providerId="LiveId" clId="{952F0A22-8037-4472-9452-BD7208E78A99}" dt="2026-07-23T03:17:48.267" v="57" actId="123"/>
        <pc:sldMkLst>
          <pc:docMk/>
          <pc:sldMk cId="68911900" sldId="276"/>
        </pc:sldMkLst>
        <pc:spChg chg="mod">
          <ac:chgData name="jeevithkumar775@outlook.com" userId="beebfe8987aa830a" providerId="LiveId" clId="{952F0A22-8037-4472-9452-BD7208E78A99}" dt="2026-07-23T03:17:48.267" v="57" actId="123"/>
          <ac:spMkLst>
            <pc:docMk/>
            <pc:sldMk cId="68911900" sldId="276"/>
            <ac:spMk id="4" creationId="{90EC8939-F3A4-D3FC-4914-CD0385E7CC8A}"/>
          </ac:spMkLst>
        </pc:spChg>
      </pc:sldChg>
      <pc:sldChg chg="addSp delSp modSp new mod ord">
        <pc:chgData name="jeevithkumar775@outlook.com" userId="beebfe8987aa830a" providerId="LiveId" clId="{952F0A22-8037-4472-9452-BD7208E78A99}" dt="2026-07-11T05:08:57.836" v="15"/>
        <pc:sldMkLst>
          <pc:docMk/>
          <pc:sldMk cId="2691587638" sldId="278"/>
        </pc:sldMkLst>
        <pc:spChg chg="mod">
          <ac:chgData name="jeevithkumar775@outlook.com" userId="beebfe8987aa830a" providerId="LiveId" clId="{952F0A22-8037-4472-9452-BD7208E78A99}" dt="2026-07-11T04:55:59.056" v="12" actId="207"/>
          <ac:spMkLst>
            <pc:docMk/>
            <pc:sldMk cId="2691587638" sldId="278"/>
            <ac:spMk id="2" creationId="{C2A22214-6FC9-BE44-A731-A3EF02090A80}"/>
          </ac:spMkLst>
        </pc:spChg>
        <pc:picChg chg="add mod ord">
          <ac:chgData name="jeevithkumar775@outlook.com" userId="beebfe8987aa830a" providerId="LiveId" clId="{952F0A22-8037-4472-9452-BD7208E78A99}" dt="2026-07-11T04:56:24.380" v="13" actId="14100"/>
          <ac:picMkLst>
            <pc:docMk/>
            <pc:sldMk cId="2691587638" sldId="278"/>
            <ac:picMk id="5" creationId="{D959E190-10A9-5E67-68AF-7E920E90AE8F}"/>
          </ac:picMkLst>
        </pc:picChg>
      </pc:sldChg>
      <pc:sldChg chg="modSp new mod">
        <pc:chgData name="jeevithkumar775@outlook.com" userId="beebfe8987aa830a" providerId="LiveId" clId="{952F0A22-8037-4472-9452-BD7208E78A99}" dt="2026-07-23T03:17:00.206" v="55" actId="20577"/>
        <pc:sldMkLst>
          <pc:docMk/>
          <pc:sldMk cId="73125935" sldId="279"/>
        </pc:sldMkLst>
        <pc:spChg chg="mod">
          <ac:chgData name="jeevithkumar775@outlook.com" userId="beebfe8987aa830a" providerId="LiveId" clId="{952F0A22-8037-4472-9452-BD7208E78A99}" dt="2026-07-23T03:11:19.607" v="29" actId="255"/>
          <ac:spMkLst>
            <pc:docMk/>
            <pc:sldMk cId="73125935" sldId="279"/>
            <ac:spMk id="2" creationId="{6AF7A8B3-5373-8433-2CF2-4085851C3ADE}"/>
          </ac:spMkLst>
        </pc:spChg>
        <pc:spChg chg="mod">
          <ac:chgData name="jeevithkumar775@outlook.com" userId="beebfe8987aa830a" providerId="LiveId" clId="{952F0A22-8037-4472-9452-BD7208E78A99}" dt="2026-07-23T03:17:00.206" v="55" actId="20577"/>
          <ac:spMkLst>
            <pc:docMk/>
            <pc:sldMk cId="73125935" sldId="279"/>
            <ac:spMk id="3" creationId="{8286E919-5887-06FD-7978-B2FFC06FE78D}"/>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attack.mitre.org/" TargetMode="External"/><Relationship Id="rId3" Type="http://schemas.openxmlformats.org/officeDocument/2006/relationships/hyperlink" Target="https://documentation.wazuh.com/" TargetMode="External"/><Relationship Id="rId4" Type="http://schemas.openxmlformats.org/officeDocument/2006/relationships/hyperlink" Target="https://developers.virustotal.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1.jp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40199BE-31C0-2504-0B84-09689E8EB80D}"/>
              </a:ext>
            </a:extLst>
          </p:cNvPr>
          <p:cNvSpPr txBox="1"/>
          <p:nvPr/>
        </p:nvSpPr>
        <p:spPr>
          <a:xfrm>
            <a:off x="88490" y="4248230"/>
            <a:ext cx="3944518" cy="917624"/>
          </a:xfrm>
          <a:prstGeom prst="rect">
            <a:avLst/>
          </a:prstGeom>
          <a:noFill/>
        </p:spPr>
        <p:txBody>
          <a:bodyPr wrap="square">
            <a:spAutoFit/>
          </a:bodyPr>
          <a:lstStyle/>
          <a:p>
            <a:pPr marL="9525">
              <a:spcBef>
                <a:spcPts val="75"/>
              </a:spcBef>
            </a:pPr>
            <a:r>
              <a:rPr lang="en-US" sz="1350" b="1" dirty="0">
                <a:latin typeface="Times New Roman"/>
                <a:cs typeface="Times New Roman"/>
              </a:rPr>
              <a:t>GUIDED</a:t>
            </a:r>
            <a:r>
              <a:rPr lang="en-US" sz="1350" b="1" spc="-23" dirty="0">
                <a:latin typeface="Times New Roman"/>
                <a:cs typeface="Times New Roman"/>
              </a:rPr>
              <a:t> </a:t>
            </a:r>
            <a:r>
              <a:rPr lang="en-US" sz="1350" b="1" spc="-19" dirty="0">
                <a:latin typeface="Times New Roman"/>
                <a:cs typeface="Times New Roman"/>
              </a:rPr>
              <a:t>BY,</a:t>
            </a:r>
            <a:endParaRPr lang="en-US" sz="1350" dirty="0">
              <a:latin typeface="Times New Roman"/>
              <a:cs typeface="Times New Roman"/>
            </a:endParaRPr>
          </a:p>
          <a:p>
            <a:pPr marL="9525" marR="4286">
              <a:lnSpc>
                <a:spcPct val="100800"/>
              </a:lnSpc>
            </a:pPr>
            <a:r>
              <a:rPr lang="en-US" sz="1350" spc="-34" dirty="0">
                <a:latin typeface="Times New Roman"/>
                <a:cs typeface="Times New Roman"/>
              </a:rPr>
              <a:t>Ms. DHIVYA K</a:t>
            </a:r>
            <a:endParaRPr lang="en-US" sz="1350" spc="-38" dirty="0">
              <a:latin typeface="Times New Roman"/>
              <a:cs typeface="Times New Roman"/>
            </a:endParaRPr>
          </a:p>
          <a:p>
            <a:pPr marL="9525" marR="4286">
              <a:lnSpc>
                <a:spcPct val="100800"/>
              </a:lnSpc>
            </a:pPr>
            <a:r>
              <a:rPr lang="en-US" sz="1350" spc="-38" dirty="0">
                <a:latin typeface="Times New Roman"/>
                <a:cs typeface="Times New Roman"/>
              </a:rPr>
              <a:t> </a:t>
            </a:r>
            <a:r>
              <a:rPr lang="en-US" sz="1350" spc="-15" dirty="0">
                <a:latin typeface="Times New Roman"/>
                <a:cs typeface="Times New Roman"/>
              </a:rPr>
              <a:t>ASSISTANT</a:t>
            </a:r>
            <a:r>
              <a:rPr lang="en-US" sz="1350" spc="-8" dirty="0">
                <a:latin typeface="Times New Roman"/>
                <a:cs typeface="Times New Roman"/>
              </a:rPr>
              <a:t> PROFESSOR</a:t>
            </a:r>
          </a:p>
          <a:p>
            <a:pPr marL="9525" marR="4286">
              <a:lnSpc>
                <a:spcPct val="100800"/>
              </a:lnSpc>
            </a:pPr>
            <a:r>
              <a:rPr lang="en-US" sz="1350" spc="-8" dirty="0">
                <a:latin typeface="Times New Roman"/>
                <a:cs typeface="Times New Roman"/>
              </a:rPr>
              <a:t> </a:t>
            </a:r>
            <a:r>
              <a:rPr lang="en-US" sz="1350" dirty="0">
                <a:latin typeface="Times New Roman"/>
                <a:cs typeface="Times New Roman"/>
              </a:rPr>
              <a:t>CSE</a:t>
            </a:r>
            <a:r>
              <a:rPr lang="en-US" sz="1350" spc="-11" dirty="0">
                <a:latin typeface="Times New Roman"/>
                <a:cs typeface="Times New Roman"/>
              </a:rPr>
              <a:t> </a:t>
            </a:r>
            <a:r>
              <a:rPr lang="en-US" sz="1350" spc="-8" dirty="0">
                <a:latin typeface="Times New Roman"/>
                <a:cs typeface="Times New Roman"/>
              </a:rPr>
              <a:t>(CYBERSECURITY)</a:t>
            </a:r>
            <a:endParaRPr lang="en-US" sz="1350" dirty="0">
              <a:latin typeface="Times New Roman"/>
              <a:cs typeface="Times New Roman"/>
            </a:endParaRPr>
          </a:p>
        </p:txBody>
      </p:sp>
      <p:sp>
        <p:nvSpPr>
          <p:cNvPr id="5" name="TextBox 4">
            <a:extLst>
              <a:ext uri="{FF2B5EF4-FFF2-40B4-BE49-F238E27FC236}">
                <a16:creationId xmlns:a16="http://schemas.microsoft.com/office/drawing/2014/main" id="{0B191D2C-C7EB-A237-C409-54BD528865BF}"/>
              </a:ext>
            </a:extLst>
          </p:cNvPr>
          <p:cNvSpPr txBox="1"/>
          <p:nvPr/>
        </p:nvSpPr>
        <p:spPr>
          <a:xfrm>
            <a:off x="737420" y="1893735"/>
            <a:ext cx="7757651" cy="1848135"/>
          </a:xfrm>
          <a:prstGeom prst="rect">
            <a:avLst/>
          </a:prstGeom>
          <a:noFill/>
        </p:spPr>
        <p:txBody>
          <a:bodyPr wrap="square" lIns="91440" tIns="45720" rIns="91440" bIns="45720" anchor="t">
            <a:spAutoFit/>
          </a:bodyPr>
          <a:lstStyle/>
          <a:p>
            <a:pPr marL="7620" algn="ctr">
              <a:spcBef>
                <a:spcPts val="694"/>
              </a:spcBef>
            </a:pPr>
            <a:r>
              <a:rPr lang="en-US" sz="1500" b="1" spc="-8" dirty="0">
                <a:latin typeface="Times New Roman"/>
                <a:cs typeface="Times New Roman"/>
              </a:rPr>
              <a:t>(</a:t>
            </a:r>
            <a:r>
              <a:rPr lang="en-US" b="1" spc="-8" dirty="0">
                <a:latin typeface="Times New Roman"/>
                <a:cs typeface="Times New Roman"/>
              </a:rPr>
              <a:t>AN</a:t>
            </a:r>
            <a:r>
              <a:rPr lang="en-US" b="1" spc="-229" dirty="0">
                <a:latin typeface="Times New Roman"/>
                <a:cs typeface="Times New Roman"/>
              </a:rPr>
              <a:t> </a:t>
            </a:r>
            <a:r>
              <a:rPr lang="en-US" b="1" spc="-15" dirty="0">
                <a:latin typeface="Times New Roman"/>
                <a:cs typeface="Times New Roman"/>
              </a:rPr>
              <a:t>AUTONOMOUS</a:t>
            </a:r>
            <a:r>
              <a:rPr lang="en-US" b="1" spc="-60" dirty="0">
                <a:latin typeface="Times New Roman"/>
                <a:cs typeface="Times New Roman"/>
              </a:rPr>
              <a:t> </a:t>
            </a:r>
            <a:r>
              <a:rPr lang="en-US" b="1" spc="-8" dirty="0">
                <a:latin typeface="Times New Roman"/>
                <a:cs typeface="Times New Roman"/>
              </a:rPr>
              <a:t>INSTITUTION)</a:t>
            </a:r>
            <a:endParaRPr lang="en-US" dirty="0">
              <a:latin typeface="Times New Roman"/>
              <a:cs typeface="Times New Roman"/>
            </a:endParaRPr>
          </a:p>
          <a:p>
            <a:pPr marL="15875" marR="3810" algn="ctr">
              <a:lnSpc>
                <a:spcPts val="2198"/>
              </a:lnSpc>
              <a:spcBef>
                <a:spcPts val="135"/>
              </a:spcBef>
            </a:pPr>
            <a:r>
              <a:rPr lang="en-US" sz="1350" spc="-23" dirty="0">
                <a:latin typeface="Times New Roman"/>
                <a:cs typeface="Times New Roman"/>
              </a:rPr>
              <a:t>DEPARTMENT</a:t>
            </a:r>
            <a:r>
              <a:rPr lang="en-US" sz="1350" spc="34" dirty="0">
                <a:latin typeface="Times New Roman"/>
                <a:cs typeface="Times New Roman"/>
              </a:rPr>
              <a:t> </a:t>
            </a:r>
            <a:r>
              <a:rPr lang="en-US" sz="1350" dirty="0">
                <a:latin typeface="Times New Roman"/>
                <a:cs typeface="Times New Roman"/>
              </a:rPr>
              <a:t>OF</a:t>
            </a:r>
            <a:r>
              <a:rPr lang="en-US" sz="1350" spc="-105" dirty="0">
                <a:latin typeface="Times New Roman"/>
                <a:cs typeface="Times New Roman"/>
              </a:rPr>
              <a:t> </a:t>
            </a:r>
            <a:r>
              <a:rPr lang="en-US" sz="1350" dirty="0">
                <a:latin typeface="Times New Roman"/>
                <a:cs typeface="Times New Roman"/>
              </a:rPr>
              <a:t>COMPUTER</a:t>
            </a:r>
            <a:r>
              <a:rPr lang="en-US" sz="1350" spc="-4" dirty="0">
                <a:latin typeface="Times New Roman"/>
                <a:cs typeface="Times New Roman"/>
              </a:rPr>
              <a:t> </a:t>
            </a:r>
            <a:r>
              <a:rPr lang="en-US" sz="1350" spc="-15" dirty="0">
                <a:latin typeface="Times New Roman"/>
                <a:cs typeface="Times New Roman"/>
              </a:rPr>
              <a:t>SCIENCE</a:t>
            </a:r>
            <a:r>
              <a:rPr lang="en-US" sz="1350" spc="-83" dirty="0">
                <a:latin typeface="Times New Roman"/>
                <a:cs typeface="Times New Roman"/>
              </a:rPr>
              <a:t> </a:t>
            </a:r>
            <a:r>
              <a:rPr lang="en-US" sz="1350" dirty="0">
                <a:latin typeface="Times New Roman"/>
                <a:cs typeface="Times New Roman"/>
              </a:rPr>
              <a:t>AND</a:t>
            </a:r>
            <a:r>
              <a:rPr lang="en-US" sz="1350" spc="-19" dirty="0">
                <a:latin typeface="Times New Roman"/>
                <a:cs typeface="Times New Roman"/>
              </a:rPr>
              <a:t> </a:t>
            </a:r>
            <a:r>
              <a:rPr lang="en-US" sz="1350" spc="-8" dirty="0">
                <a:latin typeface="Times New Roman"/>
                <a:cs typeface="Times New Roman"/>
              </a:rPr>
              <a:t>ENGINEERING </a:t>
            </a:r>
            <a:r>
              <a:rPr lang="en-US" sz="1350" dirty="0">
                <a:latin typeface="Times New Roman"/>
                <a:cs typeface="Times New Roman"/>
              </a:rPr>
              <a:t>(CYBER</a:t>
            </a:r>
            <a:r>
              <a:rPr lang="en-US" sz="1350" spc="-11" dirty="0">
                <a:latin typeface="Times New Roman"/>
                <a:cs typeface="Times New Roman"/>
              </a:rPr>
              <a:t> </a:t>
            </a:r>
            <a:r>
              <a:rPr lang="en-US" sz="1350" spc="-8" dirty="0">
                <a:latin typeface="Times New Roman"/>
                <a:cs typeface="Times New Roman"/>
              </a:rPr>
              <a:t>SECURITY)</a:t>
            </a:r>
            <a:endParaRPr lang="en-US" sz="1350" dirty="0">
              <a:latin typeface="Times New Roman"/>
              <a:cs typeface="Times New Roman"/>
            </a:endParaRPr>
          </a:p>
          <a:p>
            <a:pPr marL="8255" algn="ctr">
              <a:spcBef>
                <a:spcPts val="368"/>
              </a:spcBef>
            </a:pPr>
            <a:r>
              <a:rPr lang="en-US" sz="1350" dirty="0">
                <a:latin typeface="Times New Roman"/>
                <a:cs typeface="Times New Roman"/>
              </a:rPr>
              <a:t>21CY411-</a:t>
            </a:r>
            <a:r>
              <a:rPr lang="en-US" sz="1350" spc="-34" dirty="0">
                <a:latin typeface="Times New Roman"/>
                <a:cs typeface="Times New Roman"/>
              </a:rPr>
              <a:t> </a:t>
            </a:r>
            <a:r>
              <a:rPr lang="en-US" sz="1350" dirty="0">
                <a:latin typeface="Times New Roman"/>
                <a:cs typeface="Times New Roman"/>
              </a:rPr>
              <a:t>ENGINEERING</a:t>
            </a:r>
            <a:r>
              <a:rPr lang="en-US" sz="1350" spc="-41" dirty="0">
                <a:latin typeface="Times New Roman"/>
                <a:cs typeface="Times New Roman"/>
              </a:rPr>
              <a:t> </a:t>
            </a:r>
            <a:r>
              <a:rPr lang="en-US" sz="1350" spc="-19" dirty="0">
                <a:latin typeface="Times New Roman"/>
                <a:cs typeface="Times New Roman"/>
              </a:rPr>
              <a:t>EXPLORATION</a:t>
            </a:r>
            <a:r>
              <a:rPr lang="en-US" sz="1350" spc="-45" dirty="0">
                <a:latin typeface="Times New Roman"/>
                <a:cs typeface="Times New Roman"/>
              </a:rPr>
              <a:t> - V</a:t>
            </a:r>
            <a:endParaRPr lang="en-US" sz="1350" dirty="0">
              <a:latin typeface="Times New Roman"/>
              <a:cs typeface="Times New Roman"/>
            </a:endParaRPr>
          </a:p>
          <a:p>
            <a:pPr>
              <a:spcBef>
                <a:spcPts val="626"/>
              </a:spcBef>
            </a:pPr>
            <a:endParaRPr lang="en-US" sz="1350" b="1" dirty="0">
              <a:latin typeface="Times New Roman"/>
              <a:cs typeface="Times New Roman"/>
            </a:endParaRPr>
          </a:p>
          <a:p>
            <a:pPr marR="27940" algn="ctr">
              <a:lnSpc>
                <a:spcPts val="1650"/>
              </a:lnSpc>
            </a:pPr>
            <a:r>
              <a:t>TITLE : SENTINELAI X — MCP-ENABLED COPILOT &amp; ML THREAT ENGINE FOR FASTER SOC INVESTIGATION</a:t>
            </a:r>
            <a:endParaRPr lang="en-US" sz="1400" b="1" spc="-19" dirty="0">
              <a:latin typeface="Times New Roman"/>
              <a:cs typeface="Times New Roman"/>
            </a:endParaRPr>
          </a:p>
          <a:p>
            <a:pPr marR="27940" algn="ctr">
              <a:lnSpc>
                <a:spcPts val="1650"/>
              </a:lnSpc>
            </a:pPr>
            <a:endParaRPr lang="en-US" sz="1350" dirty="0">
              <a:latin typeface="Times New Roman"/>
              <a:cs typeface="Times New Roman"/>
            </a:endParaRPr>
          </a:p>
          <a:p>
            <a:pPr marL="1905" algn="ctr">
              <a:lnSpc>
                <a:spcPts val="1650"/>
              </a:lnSpc>
            </a:pPr>
            <a:r>
              <a:rPr lang="en-US" sz="1350" b="1" dirty="0">
                <a:latin typeface="Times New Roman"/>
                <a:cs typeface="Times New Roman"/>
              </a:rPr>
              <a:t>DOMAIN</a:t>
            </a:r>
            <a:r>
              <a:rPr lang="en-US" sz="1350" b="1" spc="-30" dirty="0">
                <a:latin typeface="Times New Roman"/>
                <a:cs typeface="Times New Roman"/>
              </a:rPr>
              <a:t> </a:t>
            </a:r>
            <a:r>
              <a:rPr lang="en-US" sz="1350" b="1" dirty="0">
                <a:latin typeface="Times New Roman"/>
                <a:cs typeface="Times New Roman"/>
              </a:rPr>
              <a:t>:</a:t>
            </a:r>
            <a:r>
              <a:rPr lang="en-US" sz="1350" b="1" spc="-23" dirty="0">
                <a:latin typeface="Times New Roman"/>
                <a:cs typeface="Times New Roman"/>
              </a:rPr>
              <a:t> CYBER SECURITY</a:t>
            </a:r>
            <a:endParaRPr lang="en-US" sz="1350" dirty="0">
              <a:latin typeface="Times New Roman"/>
              <a:cs typeface="Times New Roman"/>
            </a:endParaRPr>
          </a:p>
        </p:txBody>
      </p:sp>
      <p:sp>
        <p:nvSpPr>
          <p:cNvPr id="7" name="TextBox 6">
            <a:extLst>
              <a:ext uri="{FF2B5EF4-FFF2-40B4-BE49-F238E27FC236}">
                <a16:creationId xmlns:a16="http://schemas.microsoft.com/office/drawing/2014/main" id="{9D49FE4E-D663-0564-56C0-DF4B763DAFF4}"/>
              </a:ext>
            </a:extLst>
          </p:cNvPr>
          <p:cNvSpPr txBox="1"/>
          <p:nvPr/>
        </p:nvSpPr>
        <p:spPr>
          <a:xfrm>
            <a:off x="6415549" y="3960412"/>
            <a:ext cx="2728451" cy="1276696"/>
          </a:xfrm>
          <a:prstGeom prst="rect">
            <a:avLst/>
          </a:prstGeom>
          <a:noFill/>
        </p:spPr>
        <p:txBody>
          <a:bodyPr wrap="square">
            <a:spAutoFit/>
          </a:bodyPr>
          <a:lstStyle/>
          <a:p>
            <a:pPr marL="9525">
              <a:spcBef>
                <a:spcPts val="424"/>
              </a:spcBef>
            </a:pPr>
            <a:r>
              <a:rPr lang="en-IN" sz="1350" b="1" dirty="0">
                <a:latin typeface="Times New Roman"/>
                <a:cs typeface="Times New Roman"/>
              </a:rPr>
              <a:t>PRESENTED</a:t>
            </a:r>
            <a:r>
              <a:rPr lang="en-IN" sz="1350" b="1" spc="131" dirty="0">
                <a:latin typeface="Times New Roman"/>
                <a:cs typeface="Times New Roman"/>
              </a:rPr>
              <a:t> </a:t>
            </a:r>
            <a:r>
              <a:rPr lang="en-IN" sz="1350" b="1" spc="-19" dirty="0">
                <a:latin typeface="Times New Roman"/>
                <a:cs typeface="Times New Roman"/>
              </a:rPr>
              <a:t>BY,</a:t>
            </a:r>
            <a:endParaRPr lang="en-IN" sz="1350" dirty="0">
              <a:latin typeface="Times New Roman"/>
              <a:cs typeface="Times New Roman"/>
            </a:endParaRPr>
          </a:p>
          <a:p>
            <a:pPr marL="9525">
              <a:spcBef>
                <a:spcPts val="349"/>
              </a:spcBef>
            </a:pPr>
            <a:r>
              <a:rPr lang="en-IN" sz="1350" spc="-15" dirty="0">
                <a:latin typeface="Times New Roman"/>
                <a:cs typeface="Times New Roman"/>
              </a:rPr>
              <a:t>TEAM</a:t>
            </a:r>
            <a:r>
              <a:rPr lang="en-IN" sz="1350" spc="-86" dirty="0">
                <a:latin typeface="Times New Roman"/>
                <a:cs typeface="Times New Roman"/>
              </a:rPr>
              <a:t> </a:t>
            </a:r>
            <a:r>
              <a:rPr lang="en-IN" sz="1350" spc="-15" dirty="0">
                <a:latin typeface="Times New Roman"/>
                <a:cs typeface="Times New Roman"/>
              </a:rPr>
              <a:t>NUMBER:</a:t>
            </a:r>
            <a:r>
              <a:rPr lang="en-IN" sz="1350" spc="-34" dirty="0">
                <a:latin typeface="Times New Roman"/>
                <a:cs typeface="Times New Roman"/>
              </a:rPr>
              <a:t> </a:t>
            </a:r>
            <a:r>
              <a:rPr lang="en-IN" sz="1350" spc="-19" dirty="0">
                <a:latin typeface="Times New Roman"/>
                <a:cs typeface="Times New Roman"/>
              </a:rPr>
              <a:t>25</a:t>
            </a:r>
          </a:p>
          <a:p>
            <a:pPr marL="9525">
              <a:spcBef>
                <a:spcPts val="349"/>
              </a:spcBef>
            </a:pPr>
            <a:r>
              <a:rPr lang="en-IN" sz="1350" spc="-19" dirty="0">
                <a:latin typeface="Times New Roman"/>
                <a:cs typeface="Times New Roman"/>
              </a:rPr>
              <a:t>MATHESH.T(714024149059)</a:t>
            </a:r>
            <a:endParaRPr lang="en-IN" sz="1350" dirty="0">
              <a:latin typeface="Times New Roman"/>
              <a:cs typeface="Times New Roman"/>
            </a:endParaRPr>
          </a:p>
          <a:p>
            <a:pPr marL="9525" marR="3810">
              <a:lnSpc>
                <a:spcPct val="121700"/>
              </a:lnSpc>
            </a:pPr>
            <a:r>
              <a:rPr lang="en-IN" sz="1350" spc="-26" dirty="0">
                <a:latin typeface="Times New Roman"/>
                <a:cs typeface="Times New Roman"/>
              </a:rPr>
              <a:t>JEEVITHKUMAR.P(714024149043)</a:t>
            </a:r>
          </a:p>
          <a:p>
            <a:pPr marL="9525" marR="3810">
              <a:lnSpc>
                <a:spcPct val="121700"/>
              </a:lnSpc>
            </a:pPr>
            <a:r>
              <a:rPr lang="en-IN" sz="1350" spc="-26" dirty="0">
                <a:latin typeface="Times New Roman"/>
                <a:cs typeface="Times New Roman"/>
              </a:rPr>
              <a:t>B.E-</a:t>
            </a:r>
            <a:r>
              <a:rPr lang="en-IN" sz="1350" dirty="0">
                <a:latin typeface="Times New Roman"/>
                <a:cs typeface="Times New Roman"/>
              </a:rPr>
              <a:t>CSE</a:t>
            </a:r>
            <a:r>
              <a:rPr lang="en-IN" sz="1350" spc="-41" dirty="0">
                <a:latin typeface="Times New Roman"/>
                <a:cs typeface="Times New Roman"/>
              </a:rPr>
              <a:t> </a:t>
            </a:r>
            <a:r>
              <a:rPr lang="en-IN" sz="1350" spc="-8" dirty="0">
                <a:latin typeface="Times New Roman"/>
                <a:cs typeface="Times New Roman"/>
              </a:rPr>
              <a:t>(CYBER SECURITY)</a:t>
            </a:r>
            <a:endParaRPr lang="en-IN" sz="1350" dirty="0">
              <a:latin typeface="Times New Roman"/>
              <a:cs typeface="Times New Roman"/>
            </a:endParaRPr>
          </a:p>
        </p:txBody>
      </p:sp>
      <p:sp>
        <p:nvSpPr>
          <p:cNvPr id="9" name="TextBox 8">
            <a:extLst>
              <a:ext uri="{FF2B5EF4-FFF2-40B4-BE49-F238E27FC236}">
                <a16:creationId xmlns:a16="http://schemas.microsoft.com/office/drawing/2014/main" id="{A443E129-6D70-5EED-343F-E367CE3CB51B}"/>
              </a:ext>
            </a:extLst>
          </p:cNvPr>
          <p:cNvSpPr txBox="1"/>
          <p:nvPr/>
        </p:nvSpPr>
        <p:spPr>
          <a:xfrm>
            <a:off x="1246239" y="1189089"/>
            <a:ext cx="7897761" cy="369332"/>
          </a:xfrm>
          <a:prstGeom prst="rect">
            <a:avLst/>
          </a:prstGeom>
          <a:noFill/>
        </p:spPr>
        <p:txBody>
          <a:bodyPr wrap="square">
            <a:spAutoFit/>
          </a:bodyPr>
          <a:lstStyle/>
          <a:p>
            <a:r>
              <a:rPr lang="en-US" b="1">
                <a:solidFill>
                  <a:srgbClr val="00B050"/>
                </a:solidFill>
                <a:highlight>
                  <a:srgbClr val="FFFF00"/>
                </a:highlight>
                <a:latin typeface="Algerian" panose="04020705040A02060702" pitchFamily="82" charset="0"/>
              </a:rPr>
              <a:t>SRI SHAKTHI INSTITUTE OF ENGINEERING </a:t>
            </a:r>
            <a:r>
              <a:rPr lang="en-IN" b="1" spc="-19">
                <a:solidFill>
                  <a:srgbClr val="00B050"/>
                </a:solidFill>
                <a:highlight>
                  <a:srgbClr val="FFFF00"/>
                </a:highlight>
                <a:latin typeface="Algerian" panose="04020705040A02060702" pitchFamily="82" charset="0"/>
              </a:rPr>
              <a:t>AND TECHNOLOGY</a:t>
            </a:r>
            <a:endParaRPr lang="en-IN">
              <a:solidFill>
                <a:srgbClr val="00B050"/>
              </a:solidFill>
              <a:highlight>
                <a:srgbClr val="FFFF00"/>
              </a:highlight>
            </a:endParaRPr>
          </a:p>
        </p:txBody>
      </p:sp>
      <p:pic>
        <p:nvPicPr>
          <p:cNvPr id="10" name="object 2">
            <a:extLst>
              <a:ext uri="{FF2B5EF4-FFF2-40B4-BE49-F238E27FC236}">
                <a16:creationId xmlns:a16="http://schemas.microsoft.com/office/drawing/2014/main" id="{F5AC0780-DF29-72F7-87BC-FFA7EB58DF8A}"/>
              </a:ext>
            </a:extLst>
          </p:cNvPr>
          <p:cNvPicPr/>
          <p:nvPr/>
        </p:nvPicPr>
        <p:blipFill>
          <a:blip r:embed="rId2" cstate="print"/>
          <a:stretch>
            <a:fillRect/>
          </a:stretch>
        </p:blipFill>
        <p:spPr>
          <a:xfrm>
            <a:off x="110382" y="955005"/>
            <a:ext cx="778669" cy="814388"/>
          </a:xfrm>
          <a:prstGeom prst="rect">
            <a:avLst/>
          </a:prstGeom>
        </p:spPr>
      </p:pic>
      <p:pic>
        <p:nvPicPr>
          <p:cNvPr id="11" name="object 7">
            <a:extLst>
              <a:ext uri="{FF2B5EF4-FFF2-40B4-BE49-F238E27FC236}">
                <a16:creationId xmlns:a16="http://schemas.microsoft.com/office/drawing/2014/main" id="{70E2D5ED-86DC-BBB8-6ACF-384A8BF234F8}"/>
              </a:ext>
            </a:extLst>
          </p:cNvPr>
          <p:cNvPicPr/>
          <p:nvPr/>
        </p:nvPicPr>
        <p:blipFill>
          <a:blip r:embed="rId3" cstate="print"/>
          <a:stretch>
            <a:fillRect/>
          </a:stretch>
        </p:blipFill>
        <p:spPr>
          <a:xfrm>
            <a:off x="7779774" y="993576"/>
            <a:ext cx="966250" cy="737245"/>
          </a:xfrm>
          <a:prstGeom prst="rect">
            <a:avLst/>
          </a:prstGeom>
        </p:spPr>
      </p:pic>
    </p:spTree>
    <p:extLst>
      <p:ext uri="{BB962C8B-B14F-4D97-AF65-F5344CB8AC3E}">
        <p14:creationId xmlns:p14="http://schemas.microsoft.com/office/powerpoint/2010/main" val="38649197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00955"/>
            <a:ext cx="8229600" cy="1143000"/>
          </a:xfrm>
        </p:spPr>
        <p:txBody>
          <a:bodyPr>
            <a:normAutofit/>
          </a:bodyPr>
          <a:lstStyle/>
          <a:p>
            <a:r>
              <a:rPr sz="3000" i="1" dirty="0">
                <a:solidFill>
                  <a:srgbClr val="FF0000"/>
                </a:solidFill>
              </a:rPr>
              <a:t>Problem</a:t>
            </a:r>
            <a:r>
              <a:rPr sz="3000" dirty="0">
                <a:solidFill>
                  <a:srgbClr val="FF0000"/>
                </a:solidFill>
              </a:rPr>
              <a:t> </a:t>
            </a:r>
            <a:r>
              <a:rPr sz="3000" i="1" dirty="0">
                <a:solidFill>
                  <a:srgbClr val="FF0000"/>
                </a:solidFill>
              </a:rPr>
              <a:t>Statement</a:t>
            </a:r>
          </a:p>
        </p:txBody>
      </p:sp>
      <p:sp>
        <p:nvSpPr>
          <p:cNvPr id="3" name="Content Placeholder 2"/>
          <p:cNvSpPr>
            <a:spLocks noGrp="1"/>
          </p:cNvSpPr>
          <p:nvPr>
            <p:ph idx="1"/>
          </p:nvPr>
        </p:nvSpPr>
        <p:spPr>
          <a:xfrm>
            <a:off x="402336" y="1414314"/>
            <a:ext cx="8229600" cy="4708525"/>
          </a:xfrm>
        </p:spPr>
        <p:txBody>
          <a:bodyPr vert="horz" lIns="91440" tIns="45720" rIns="91440" bIns="45720" rtlCol="0" anchor="t">
            <a:normAutofit fontScale="92500" lnSpcReduction="10000"/>
          </a:bodyPr>
          <a:lstStyle/>
          <a:p>
            <a:pPr algn="just">
              <a:defRPr>
                <a:solidFill/>
              </a:defRPr>
            </a:pPr>
            <a:r>
              <a:t>Security Operations Centers (SOCs) face severe alert fatigue, processing thousands of endpoint and network telemetry alerts daily. Modern SOC analysts must navigate disparate tools (SIEM, Threat Feeds, Malware Sandboxes, Vulnerability Databases), manually correlating IOCs across disconnected web portals. This manual swivel-chair investigation causes high cognitive load, missed critical alerts, and extended Mean Time to Detect (MTTD) and Respond (MTTR).</a:t>
            </a:r>
          </a:p>
          <a:p>
            <a:r>
              <a:t>Furthermore, traditional SIEMs rely on static threshold rules that miss stealthy zero-day attacks and lack real-time Machine Learning anomaly scoring. The proposed project addresses these challenges by developing SentinelAI X: an enterprise AI Security Copilot integrating real Wazuh SIEM v4.14.7, 16 Model Context Protocol (MCP) tools (featuring 6 zero-cost free intelligence feeds), and scikit-learn ML Anomaly Detection into a unified cyber operations platform.</a:t>
            </a:r>
          </a:p>
        </p:txBody>
      </p:sp>
      <p:pic>
        <p:nvPicPr>
          <p:cNvPr id="4" name="object 2">
            <a:extLst>
              <a:ext uri="{FF2B5EF4-FFF2-40B4-BE49-F238E27FC236}">
                <a16:creationId xmlns:a16="http://schemas.microsoft.com/office/drawing/2014/main" id="{4D2FBF2A-309B-EB9A-20EB-9B388DBF62C9}"/>
              </a:ext>
            </a:extLst>
          </p:cNvPr>
          <p:cNvPicPr/>
          <p:nvPr/>
        </p:nvPicPr>
        <p:blipFill>
          <a:blip r:embed="rId2" cstate="print"/>
          <a:stretch>
            <a:fillRect/>
          </a:stretch>
        </p:blipFill>
        <p:spPr>
          <a:xfrm>
            <a:off x="0" y="5772150"/>
            <a:ext cx="1114995" cy="1085850"/>
          </a:xfrm>
          <a:prstGeom prst="rect">
            <a:avLst/>
          </a:prstGeom>
        </p:spPr>
      </p:pic>
      <p:sp>
        <p:nvSpPr>
          <p:cNvPr id="6" name="TextBox 5">
            <a:extLst>
              <a:ext uri="{FF2B5EF4-FFF2-40B4-BE49-F238E27FC236}">
                <a16:creationId xmlns:a16="http://schemas.microsoft.com/office/drawing/2014/main" id="{F0B7BD51-129C-B620-030D-EE735E92C8DC}"/>
              </a:ext>
            </a:extLst>
          </p:cNvPr>
          <p:cNvSpPr txBox="1"/>
          <p:nvPr/>
        </p:nvSpPr>
        <p:spPr>
          <a:xfrm>
            <a:off x="977964" y="6473529"/>
            <a:ext cx="7444675" cy="400110"/>
          </a:xfrm>
          <a:prstGeom prst="rect">
            <a:avLst/>
          </a:prstGeom>
          <a:noFill/>
        </p:spPr>
        <p:txBody>
          <a:bodyPr wrap="square">
            <a:spAutoFit/>
          </a:bodyPr>
          <a:lstStyle/>
          <a:p>
            <a:r>
              <a:rPr lang="en-US" sz="2000" b="1">
                <a:solidFill>
                  <a:srgbClr val="00B050"/>
                </a:solidFill>
                <a:highlight>
                  <a:srgbClr val="FFFF00"/>
                </a:highlight>
                <a:latin typeface="Algerian" panose="04020705040A02060702" pitchFamily="82" charset="0"/>
              </a:rPr>
              <a:t>SRI SHAKTHI INSTITUTE OF ENGINEERING </a:t>
            </a:r>
            <a:r>
              <a:rPr lang="en-IN" sz="2000" b="1" spc="-25">
                <a:solidFill>
                  <a:srgbClr val="00B050"/>
                </a:solidFill>
                <a:highlight>
                  <a:srgbClr val="FFFF00"/>
                </a:highlight>
                <a:latin typeface="Algerian" panose="04020705040A02060702" pitchFamily="82" charset="0"/>
              </a:rPr>
              <a:t>AND TECHNOLOGY</a:t>
            </a:r>
            <a:endParaRPr lang="en-IN" sz="2000">
              <a:solidFill>
                <a:srgbClr val="00B050"/>
              </a:solidFill>
              <a:highlight>
                <a:srgbClr val="FFFF00"/>
              </a:highlight>
            </a:endParaRPr>
          </a:p>
        </p:txBody>
      </p:sp>
      <p:pic>
        <p:nvPicPr>
          <p:cNvPr id="7" name="object 7">
            <a:extLst>
              <a:ext uri="{FF2B5EF4-FFF2-40B4-BE49-F238E27FC236}">
                <a16:creationId xmlns:a16="http://schemas.microsoft.com/office/drawing/2014/main" id="{9AF3EBD7-54A9-22EC-F952-E376EBBD440E}"/>
              </a:ext>
            </a:extLst>
          </p:cNvPr>
          <p:cNvPicPr/>
          <p:nvPr/>
        </p:nvPicPr>
        <p:blipFill>
          <a:blip r:embed="rId3" cstate="print"/>
          <a:stretch>
            <a:fillRect/>
          </a:stretch>
        </p:blipFill>
        <p:spPr>
          <a:xfrm>
            <a:off x="8029005" y="5986740"/>
            <a:ext cx="1114995" cy="84908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3AC210-0608-A7B6-763C-AEBCDB0A23B8}"/>
              </a:ext>
            </a:extLst>
          </p:cNvPr>
          <p:cNvSpPr>
            <a:spLocks noGrp="1"/>
          </p:cNvSpPr>
          <p:nvPr>
            <p:ph type="title"/>
          </p:nvPr>
        </p:nvSpPr>
        <p:spPr/>
        <p:txBody>
          <a:bodyPr>
            <a:normAutofit/>
          </a:bodyPr>
          <a:lstStyle/>
          <a:p>
            <a:r>
              <a:rPr lang="en-US" sz="3000" dirty="0">
                <a:solidFill>
                  <a:srgbClr val="FF0000"/>
                </a:solidFill>
              </a:rPr>
              <a:t>Abstract</a:t>
            </a:r>
            <a:endParaRPr lang="en-IN" sz="3000" dirty="0">
              <a:solidFill>
                <a:srgbClr val="FF0000"/>
              </a:solidFill>
            </a:endParaRPr>
          </a:p>
        </p:txBody>
      </p:sp>
      <p:sp>
        <p:nvSpPr>
          <p:cNvPr id="4" name="Rectangle 1">
            <a:extLst>
              <a:ext uri="{FF2B5EF4-FFF2-40B4-BE49-F238E27FC236}">
                <a16:creationId xmlns:a16="http://schemas.microsoft.com/office/drawing/2014/main" id="{90EC8939-F3A4-D3FC-4914-CD0385E7CC8A}"/>
              </a:ext>
            </a:extLst>
          </p:cNvPr>
          <p:cNvSpPr>
            <a:spLocks noGrp="1" noChangeArrowheads="1"/>
          </p:cNvSpPr>
          <p:nvPr>
            <p:ph idx="1"/>
          </p:nvPr>
        </p:nvSpPr>
        <p:spPr bwMode="auto">
          <a:xfrm>
            <a:off x="243839" y="1484162"/>
            <a:ext cx="8900161" cy="42165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a:defRPr>
                <a:solidFill/>
              </a:defRPr>
            </a:pPr>
            <a:r>
              <a:t>The increasing volume and sophistication of cyberattacks have made Security Operations Centers (SOCs) critically dependent on rapid alert triage and automated investigation workflows. However, analysts spend significant time navigating disconnected security portals, incurring expensive API license fees, and manually correlating threat indicators.</a:t>
            </a:r>
          </a:p>
          <a:p>
            <a:r>
              <a:t>This project presents SentinelAI X, an enterprise-grade AI-powered Security Copilot built on FastAPI and React 18 with an authentic Cyber Black &amp; Matrix Green operations interface. The platform establishes a live telemetry bridge to Wazuh SIEM v4.14.7 via sub-second JSON log ingestion and persistent multi-layer caching. It incorporates 16 Model Context Protocol (MCP) tools, featuring 6 zero-cost free feeds (abuse.ch MalwareBazaar &amp; URLhaus, CISA KEV, IP-API, CIRCL CVE, and MITRE ATT&amp;CK). Additionally, an enterprise Machine Learning Engine (IsolationForest &amp; RandomForest) evaluates behavioral baseline drift and scores zero-day anomalies (0–100). Integrated SOAR active defense delivers one-click firewall IP blackholing and host isolation, significantly accelerating end-to-end incident response.</a:t>
            </a:r>
          </a:p>
        </p:txBody>
      </p:sp>
    </p:spTree>
    <p:extLst>
      <p:ext uri="{BB962C8B-B14F-4D97-AF65-F5344CB8AC3E}">
        <p14:creationId xmlns:p14="http://schemas.microsoft.com/office/powerpoint/2010/main" val="689119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5C75D70-6043-A6D7-00CD-B768902F5368}"/>
              </a:ext>
            </a:extLst>
          </p:cNvPr>
          <p:cNvSpPr txBox="1"/>
          <p:nvPr/>
        </p:nvSpPr>
        <p:spPr>
          <a:xfrm>
            <a:off x="1130709" y="766915"/>
            <a:ext cx="7472517" cy="4154984"/>
          </a:xfrm>
          <a:prstGeom prst="rect">
            <a:avLst/>
          </a:prstGeom>
          <a:noFill/>
        </p:spPr>
        <p:txBody>
          <a:bodyPr wrap="square">
            <a:spAutoFit/>
          </a:bodyPr>
          <a:lstStyle/>
          <a:p>
            <a:pPr>
              <a:defRPr>
                <a:solidFill/>
              </a:defRPr>
            </a:pPr>
            <a:r>
              <a:t>						Existing System</a:t>
            </a:r>
          </a:p>
          <a:p/>
          <a:p>
            <a:r>
              <a:t>• Manual tool-hopping: Analysts switch across separate SIEMs, threat portals, and sandboxes.</a:t>
            </a:r>
          </a:p>
          <a:p>
            <a:r>
              <a:t>• High alert fatigue: Static threshold rules miss stealthy zero-day attacks and lack ML scoring.</a:t>
            </a:r>
          </a:p>
          <a:p>
            <a:r>
              <a:t>• High operational cost: Heavy dependency on expensive proprietary threat intelligence APIs.</a:t>
            </a:r>
          </a:p>
          <a:p>
            <a:r>
              <a:t>• Delayed containment: Firewall blocking and network isolation require disconnected manual steps.</a:t>
            </a:r>
          </a:p>
          <a:p/>
          <a:p>
            <a:r>
              <a:t>					Our System — SentinelAI X</a:t>
            </a:r>
          </a:p>
          <a:p/>
          <a:p>
            <a:r>
              <a:t>• Autonomous MCP Tool Hub: Standardized AI interface orchestrates 16 forensic tools simultaneously.</a:t>
            </a:r>
          </a:p>
          <a:p>
            <a:r>
              <a:t>• Real Wazuh SIEM Telemetry: Live sub-second JSON log parsing with instant 0ms cold-start cache.</a:t>
            </a:r>
          </a:p>
          <a:p>
            <a:r>
              <a:t>• Enterprise Machine Learning: IsolationForest anomaly scoring (0-100) &amp; RandomForest severity triage.</a:t>
            </a:r>
          </a:p>
          <a:p>
            <a:r>
              <a:t>• 100% Free Public SOC Feeds: Abuse.ch, CISA KEV, IP-API, and CIRCL integration with zero API costs.</a:t>
            </a:r>
          </a:p>
          <a:p>
            <a:r>
              <a:t>• Automated SOAR Containment: One-click gateway firewall drop rules and host subnet isolation.</a:t>
            </a:r>
          </a:p>
        </p:txBody>
      </p:sp>
    </p:spTree>
    <p:extLst>
      <p:ext uri="{BB962C8B-B14F-4D97-AF65-F5344CB8AC3E}">
        <p14:creationId xmlns:p14="http://schemas.microsoft.com/office/powerpoint/2010/main" val="34494763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000" i="1" dirty="0">
                <a:solidFill>
                  <a:srgbClr val="FF0000"/>
                </a:solidFill>
              </a:rPr>
              <a:t>Proposed</a:t>
            </a:r>
            <a:r>
              <a:rPr sz="3000" dirty="0">
                <a:solidFill>
                  <a:srgbClr val="FF0000"/>
                </a:solidFill>
              </a:rPr>
              <a:t> Solution</a:t>
            </a:r>
          </a:p>
        </p:txBody>
      </p:sp>
      <p:sp>
        <p:nvSpPr>
          <p:cNvPr id="3" name="Content Placeholder 2"/>
          <p:cNvSpPr>
            <a:spLocks noGrp="1"/>
          </p:cNvSpPr>
          <p:nvPr>
            <p:ph idx="1"/>
          </p:nvPr>
        </p:nvSpPr>
        <p:spPr/>
        <p:txBody>
          <a:bodyPr vert="horz" lIns="91440" tIns="45720" rIns="91440" bIns="45720" rtlCol="0" anchor="t">
            <a:normAutofit lnSpcReduction="10000"/>
          </a:bodyPr>
          <a:lstStyle/>
          <a:p>
            <a:pPr>
              <a:defRPr>
                <a:solidFill/>
              </a:defRPr>
            </a:pPr>
            <a:r>
              <a:t>Step 1: Real-time Telemetry Ingestion — Monitored endpoints stream security events (Event ID 4624/4625, Syscheck FIM, Defender) to Wazuh SIEM.</a:t>
            </a:r>
          </a:p>
          <a:p>
            <a:r>
              <a:t>Step 2: Sub-Second Log Parsing &amp; Caching — FastAPI backend tails alerts.json and updates persistent memory and disk caches for zero-lag triage.</a:t>
            </a:r>
          </a:p>
          <a:p>
            <a:r>
              <a:t>Step 3: Machine Learning Threat Scoring — IsolationForest computes behavioral anomaly risk (0–100), while RandomForest predicts incident severity.</a:t>
            </a:r>
          </a:p>
          <a:p>
            <a:r>
              <a:t>Step 4: Autonomous MCP Tool Dispatch — AI Copilot extracts IOCs (IPs, Hashes, CVEs) and queries free intelligence feeds (MalwareBazaar, CISA KEV, IP-API, CIRCL).</a:t>
            </a:r>
          </a:p>
          <a:p>
            <a:r>
              <a:t>Step 5: MITRE ATT&amp;CK &amp; STIX Mapping — Events are mapped to adversary TTPs (T1059, T1110, T1486) and unified investigation reports are synthesized.</a:t>
            </a:r>
          </a:p>
          <a:p>
            <a:r>
              <a:t>Step 6: Conversational Security Copilot — Natural language chat in plain English or Tamil/Tanglish assists analysts with deep forensic explanations.</a:t>
            </a:r>
          </a:p>
          <a:p>
            <a:r>
              <a:t>Step 7: Automated SOAR Containment — One-click automated mitigation rules (firewall IP blackholing, host isolation) are executed with full audit trails.</a:t>
            </a:r>
          </a:p>
        </p:txBody>
      </p:sp>
      <p:pic>
        <p:nvPicPr>
          <p:cNvPr id="4" name="object 7">
            <a:extLst>
              <a:ext uri="{FF2B5EF4-FFF2-40B4-BE49-F238E27FC236}">
                <a16:creationId xmlns:a16="http://schemas.microsoft.com/office/drawing/2014/main" id="{C48B1CC8-9F9C-8B33-45D3-A3E653A2F17D}"/>
              </a:ext>
            </a:extLst>
          </p:cNvPr>
          <p:cNvPicPr/>
          <p:nvPr/>
        </p:nvPicPr>
        <p:blipFill>
          <a:blip r:embed="rId2" cstate="print"/>
          <a:stretch>
            <a:fillRect/>
          </a:stretch>
        </p:blipFill>
        <p:spPr>
          <a:xfrm>
            <a:off x="8029005" y="5986740"/>
            <a:ext cx="1114995" cy="849086"/>
          </a:xfrm>
          <a:prstGeom prst="rect">
            <a:avLst/>
          </a:prstGeom>
        </p:spPr>
      </p:pic>
      <p:pic>
        <p:nvPicPr>
          <p:cNvPr id="5" name="object 2">
            <a:extLst>
              <a:ext uri="{FF2B5EF4-FFF2-40B4-BE49-F238E27FC236}">
                <a16:creationId xmlns:a16="http://schemas.microsoft.com/office/drawing/2014/main" id="{D69C815F-82AE-D303-41D9-2367BD82690C}"/>
              </a:ext>
            </a:extLst>
          </p:cNvPr>
          <p:cNvPicPr/>
          <p:nvPr/>
        </p:nvPicPr>
        <p:blipFill>
          <a:blip r:embed="rId3" cstate="print"/>
          <a:stretch>
            <a:fillRect/>
          </a:stretch>
        </p:blipFill>
        <p:spPr>
          <a:xfrm>
            <a:off x="0" y="5772150"/>
            <a:ext cx="1114995" cy="1085850"/>
          </a:xfrm>
          <a:prstGeom prst="rect">
            <a:avLst/>
          </a:prstGeom>
        </p:spPr>
      </p:pic>
      <p:sp>
        <p:nvSpPr>
          <p:cNvPr id="9" name="TextBox 8">
            <a:extLst>
              <a:ext uri="{FF2B5EF4-FFF2-40B4-BE49-F238E27FC236}">
                <a16:creationId xmlns:a16="http://schemas.microsoft.com/office/drawing/2014/main" id="{E9F37F2A-EF3B-1874-3DD4-F0CE779D6A83}"/>
              </a:ext>
            </a:extLst>
          </p:cNvPr>
          <p:cNvSpPr txBox="1"/>
          <p:nvPr/>
        </p:nvSpPr>
        <p:spPr>
          <a:xfrm>
            <a:off x="1016000" y="6457890"/>
            <a:ext cx="8026400" cy="400110"/>
          </a:xfrm>
          <a:prstGeom prst="rect">
            <a:avLst/>
          </a:prstGeom>
          <a:noFill/>
        </p:spPr>
        <p:txBody>
          <a:bodyPr wrap="square">
            <a:spAutoFit/>
          </a:bodyPr>
          <a:lstStyle/>
          <a:p>
            <a:r>
              <a:rPr lang="en-US" sz="2000" b="1">
                <a:solidFill>
                  <a:srgbClr val="00B050"/>
                </a:solidFill>
                <a:highlight>
                  <a:srgbClr val="FFFF00"/>
                </a:highlight>
                <a:latin typeface="Algerian" panose="04020705040A02060702" pitchFamily="82" charset="0"/>
              </a:rPr>
              <a:t>SRI SHAKTHI INSTITUTE OF ENGINEERING </a:t>
            </a:r>
            <a:r>
              <a:rPr lang="en-IN" sz="2000" b="1" spc="-25">
                <a:solidFill>
                  <a:srgbClr val="00B050"/>
                </a:solidFill>
                <a:highlight>
                  <a:srgbClr val="FFFF00"/>
                </a:highlight>
                <a:latin typeface="Algerian" panose="04020705040A02060702" pitchFamily="82" charset="0"/>
              </a:rPr>
              <a:t>AND TECHNOLOGY</a:t>
            </a:r>
            <a:endParaRPr lang="en-IN" sz="2000">
              <a:solidFill>
                <a:srgbClr val="00B050"/>
              </a:solidFill>
              <a:highlight>
                <a:srgbClr val="FFFF00"/>
              </a:highligh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7A8B3-5373-8433-2CF2-4085851C3ADE}"/>
              </a:ext>
            </a:extLst>
          </p:cNvPr>
          <p:cNvSpPr>
            <a:spLocks noGrp="1"/>
          </p:cNvSpPr>
          <p:nvPr>
            <p:ph type="title"/>
          </p:nvPr>
        </p:nvSpPr>
        <p:spPr/>
        <p:txBody>
          <a:bodyPr>
            <a:normAutofit/>
          </a:bodyPr>
          <a:lstStyle/>
          <a:p>
            <a:r>
              <a:rPr lang="en-US" sz="3200" dirty="0">
                <a:solidFill>
                  <a:srgbClr val="FF0000"/>
                </a:solidFill>
              </a:rPr>
              <a:t>Modules</a:t>
            </a:r>
            <a:endParaRPr lang="en-IN" sz="3200" dirty="0">
              <a:solidFill>
                <a:srgbClr val="FF0000"/>
              </a:solidFill>
            </a:endParaRPr>
          </a:p>
        </p:txBody>
      </p:sp>
      <p:sp>
        <p:nvSpPr>
          <p:cNvPr id="3" name="Content Placeholder 2">
            <a:extLst>
              <a:ext uri="{FF2B5EF4-FFF2-40B4-BE49-F238E27FC236}">
                <a16:creationId xmlns:a16="http://schemas.microsoft.com/office/drawing/2014/main" id="{8286E919-5887-06FD-7978-B2FFC06FE78D}"/>
              </a:ext>
            </a:extLst>
          </p:cNvPr>
          <p:cNvSpPr>
            <a:spLocks noGrp="1"/>
          </p:cNvSpPr>
          <p:nvPr>
            <p:ph idx="1"/>
          </p:nvPr>
        </p:nvSpPr>
        <p:spPr/>
        <p:txBody>
          <a:bodyPr>
            <a:normAutofit/>
          </a:bodyPr>
          <a:lstStyle/>
          <a:p>
            <a:pPr>
              <a:defRPr>
                <a:solidFill/>
              </a:defRPr>
            </a:pPr>
            <a:r>
              <a:t>1. Cyber SOC Command Center (React 18 &amp; Matrix Green UI)</a:t>
            </a:r>
          </a:p>
          <a:p>
            <a:r>
              <a:t>2. Asynchronous Security API Engine (FastAPI &amp; Uvicorn)</a:t>
            </a:r>
          </a:p>
          <a:p>
            <a:r>
              <a:t>3. Real Wazuh SIEM Telemetry Bridge &amp; Parser</a:t>
            </a:r>
          </a:p>
          <a:p>
            <a:r>
              <a:t>4. Model Context Protocol (MCP) Multi-Tool Gateway</a:t>
            </a:r>
          </a:p>
          <a:p>
            <a:r>
              <a:t>5. Enterprise Machine Learning Threat Engine (IsolationForest &amp; RandomForest)</a:t>
            </a:r>
          </a:p>
          <a:p>
            <a:r>
              <a:t>6. Zero-Key Free Threat Intelligence Feeds (abuse.ch, CISA KEV, IP-API, CIRCL)</a:t>
            </a:r>
          </a:p>
          <a:p>
            <a:r>
              <a:t>7. SentinelAI Security Copilot (Hero Conversational Chatbot)</a:t>
            </a:r>
          </a:p>
          <a:p>
            <a:r>
              <a:t>8. SOAR Active Defense &amp; Automated Network Containment</a:t>
            </a:r>
          </a:p>
          <a:p>
            <a:r>
              <a:t>9. Persistent Dual-Layer Cache System (RAM + Disk + localStorage)</a:t>
            </a:r>
          </a:p>
          <a:p>
            <a:r>
              <a:t>10. Forensics Audit &amp; Markdown/PDF Report Generator</a:t>
            </a:r>
          </a:p>
        </p:txBody>
      </p:sp>
    </p:spTree>
    <p:extLst>
      <p:ext uri="{BB962C8B-B14F-4D97-AF65-F5344CB8AC3E}">
        <p14:creationId xmlns:p14="http://schemas.microsoft.com/office/powerpoint/2010/main" val="73125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22214-6FC9-BE44-A731-A3EF02090A80}"/>
              </a:ext>
            </a:extLst>
          </p:cNvPr>
          <p:cNvSpPr>
            <a:spLocks noGrp="1"/>
          </p:cNvSpPr>
          <p:nvPr>
            <p:ph type="title"/>
          </p:nvPr>
        </p:nvSpPr>
        <p:spPr/>
        <p:txBody>
          <a:bodyPr>
            <a:normAutofit/>
          </a:bodyPr>
          <a:lstStyle/>
          <a:p>
            <a:r>
              <a:rPr lang="en-US" sz="3200" dirty="0">
                <a:solidFill>
                  <a:srgbClr val="FF0000"/>
                </a:solidFill>
              </a:rPr>
              <a:t>Workflow</a:t>
            </a:r>
            <a:endParaRPr lang="en-IN" sz="3200" dirty="0">
              <a:solidFill>
                <a:srgbClr val="FF0000"/>
              </a:solidFill>
            </a:endParaRPr>
          </a:p>
        </p:txBody>
      </p:sp>
      <p:pic>
        <p:nvPicPr>
          <p:cNvPr id="5" name="Content Placeholder 4">
            <a:extLst>
              <a:ext uri="{FF2B5EF4-FFF2-40B4-BE49-F238E27FC236}">
                <a16:creationId xmlns:a16="http://schemas.microsoft.com/office/drawing/2014/main" id="{D959E190-10A9-5E67-68AF-7E920E90AE8F}"/>
              </a:ext>
            </a:extLst>
          </p:cNvPr>
          <p:cNvPicPr>
            <a:picLocks noGrp="1" noChangeAspect="1"/>
          </p:cNvPicPr>
          <p:nvPr>
            <p:ph idx="1"/>
          </p:nvPr>
        </p:nvPicPr>
        <p:blipFill>
          <a:blip r:embed="rId2"/>
          <a:stretch>
            <a:fillRect/>
          </a:stretch>
        </p:blipFill>
        <p:spPr>
          <a:xfrm>
            <a:off x="1177528" y="1248698"/>
            <a:ext cx="6788944" cy="4877466"/>
          </a:xfrm>
          <a:prstGeom prst="rect">
            <a:avLst/>
          </a:prstGeom>
        </p:spPr>
      </p:pic>
    </p:spTree>
    <p:extLst>
      <p:ext uri="{BB962C8B-B14F-4D97-AF65-F5344CB8AC3E}">
        <p14:creationId xmlns:p14="http://schemas.microsoft.com/office/powerpoint/2010/main" val="2691587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000" i="1" dirty="0">
                <a:solidFill>
                  <a:srgbClr val="FF0000"/>
                </a:solidFill>
                <a:ea typeface="Calibri"/>
                <a:cs typeface="Calibri"/>
              </a:rPr>
              <a:t>Tools Required</a:t>
            </a:r>
          </a:p>
        </p:txBody>
      </p:sp>
      <p:sp>
        <p:nvSpPr>
          <p:cNvPr id="3" name="Content Placeholder 2"/>
          <p:cNvSpPr>
            <a:spLocks noGrp="1"/>
          </p:cNvSpPr>
          <p:nvPr>
            <p:ph idx="1"/>
          </p:nvPr>
        </p:nvSpPr>
        <p:spPr/>
        <p:txBody>
          <a:bodyPr vert="horz" lIns="91440" tIns="45720" rIns="91440" bIns="45720" rtlCol="0" anchor="t">
            <a:normAutofit fontScale="85000" lnSpcReduction="20000"/>
          </a:bodyPr>
          <a:lstStyle/>
          <a:p>
            <a:pPr marL="0" indent="0">
              <a:buNone/>
              <a:defRPr>
                <a:solidFill/>
              </a:defRPr>
            </a:pPr>
            <a:r>
              <a:t>Programming &amp; Frameworks: Python 3.11, JavaScript (ES2023), FastAPI, React 18, Vite 5</a:t>
            </a:r>
            <a:endParaRPr lang="en-IN" sz="2400" b="1" dirty="0"/>
          </a:p>
          <a:p>
            <a:r>
              <a:t>Machine Learning &amp; Data Science: scikit-learn (IsolationForest, RandomForest), NumPy, Joblib</a:t>
            </a:r>
          </a:p>
          <a:p>
            <a:r>
              <a:t>SIEM &amp; Telemetry: Wazuh SIEM v4.14.7 OVA, Oracle VirtualBox (Headless Guest Control)</a:t>
            </a:r>
          </a:p>
          <a:p>
            <a:r>
              <a:t>Standard Protocol &amp; AI: Model Context Protocol (MCP), LLM Orchestrator (SentinelAI Copilot)</a:t>
            </a:r>
          </a:p>
          <a:p>
            <a:r>
              <a:t>Free Threat Intelligence: abuse.ch MalwareBazaar, URLhaus, CISA KEV Catalog, IP-API, CIRCL CVE</a:t>
            </a:r>
          </a:p>
          <a:p>
            <a:r>
              <a:t>Adversary Framework &amp; Storage: MITRE ATT&amp;CK Matrix, SQLite / PostgreSQL, SQLAlchemy, ReportLab</a:t>
            </a:r>
          </a:p>
          <a:p>
            <a:r>
              <a:t>Active Containment &amp; Endpoint: Windows Netsh Firewall, Linux iptables, Windows Event Auditing</a:t>
            </a:r>
          </a:p>
        </p:txBody>
      </p:sp>
      <p:pic>
        <p:nvPicPr>
          <p:cNvPr id="4" name="object 7">
            <a:extLst>
              <a:ext uri="{FF2B5EF4-FFF2-40B4-BE49-F238E27FC236}">
                <a16:creationId xmlns:a16="http://schemas.microsoft.com/office/drawing/2014/main" id="{2DD33E42-841F-F45D-D6F0-F82B883826FC}"/>
              </a:ext>
            </a:extLst>
          </p:cNvPr>
          <p:cNvPicPr/>
          <p:nvPr/>
        </p:nvPicPr>
        <p:blipFill>
          <a:blip r:embed="rId2" cstate="print"/>
          <a:stretch>
            <a:fillRect/>
          </a:stretch>
        </p:blipFill>
        <p:spPr>
          <a:xfrm>
            <a:off x="8029005" y="5986740"/>
            <a:ext cx="1114995" cy="849086"/>
          </a:xfrm>
          <a:prstGeom prst="rect">
            <a:avLst/>
          </a:prstGeom>
        </p:spPr>
      </p:pic>
      <p:pic>
        <p:nvPicPr>
          <p:cNvPr id="5" name="object 2">
            <a:extLst>
              <a:ext uri="{FF2B5EF4-FFF2-40B4-BE49-F238E27FC236}">
                <a16:creationId xmlns:a16="http://schemas.microsoft.com/office/drawing/2014/main" id="{F2DCFFF1-1A04-3D1F-06A0-DA482B45CCA6}"/>
              </a:ext>
            </a:extLst>
          </p:cNvPr>
          <p:cNvPicPr/>
          <p:nvPr/>
        </p:nvPicPr>
        <p:blipFill>
          <a:blip r:embed="rId3" cstate="print"/>
          <a:stretch>
            <a:fillRect/>
          </a:stretch>
        </p:blipFill>
        <p:spPr>
          <a:xfrm>
            <a:off x="1" y="5897460"/>
            <a:ext cx="1016000" cy="960539"/>
          </a:xfrm>
          <a:prstGeom prst="rect">
            <a:avLst/>
          </a:prstGeom>
        </p:spPr>
      </p:pic>
      <p:sp>
        <p:nvSpPr>
          <p:cNvPr id="8" name="TextBox 7">
            <a:extLst>
              <a:ext uri="{FF2B5EF4-FFF2-40B4-BE49-F238E27FC236}">
                <a16:creationId xmlns:a16="http://schemas.microsoft.com/office/drawing/2014/main" id="{C04B75B5-8712-DD1D-6EB2-B3ECD95B91F1}"/>
              </a:ext>
            </a:extLst>
          </p:cNvPr>
          <p:cNvSpPr txBox="1"/>
          <p:nvPr/>
        </p:nvSpPr>
        <p:spPr>
          <a:xfrm>
            <a:off x="1016000" y="6457890"/>
            <a:ext cx="8026400" cy="400110"/>
          </a:xfrm>
          <a:prstGeom prst="rect">
            <a:avLst/>
          </a:prstGeom>
          <a:noFill/>
        </p:spPr>
        <p:txBody>
          <a:bodyPr wrap="square">
            <a:spAutoFit/>
          </a:bodyPr>
          <a:lstStyle/>
          <a:p>
            <a:r>
              <a:rPr lang="en-US" sz="2000" b="1">
                <a:solidFill>
                  <a:srgbClr val="00B050"/>
                </a:solidFill>
                <a:highlight>
                  <a:srgbClr val="FFFF00"/>
                </a:highlight>
                <a:latin typeface="Algerian" panose="04020705040A02060702" pitchFamily="82" charset="0"/>
              </a:rPr>
              <a:t>SRI SHAKTHI INSTITUTE OF ENGINEERING </a:t>
            </a:r>
            <a:r>
              <a:rPr lang="en-IN" sz="2000" b="1" spc="-25">
                <a:solidFill>
                  <a:srgbClr val="00B050"/>
                </a:solidFill>
                <a:highlight>
                  <a:srgbClr val="FFFF00"/>
                </a:highlight>
                <a:latin typeface="Algerian" panose="04020705040A02060702" pitchFamily="82" charset="0"/>
              </a:rPr>
              <a:t>AND TECHNOLOGY</a:t>
            </a:r>
            <a:endParaRPr lang="en-IN" sz="2000">
              <a:solidFill>
                <a:srgbClr val="00B050"/>
              </a:solidFill>
              <a:highlight>
                <a:srgbClr val="FFFF00"/>
              </a:high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E3CAD-4745-76E0-2BE3-89874DC45B5F}"/>
              </a:ext>
            </a:extLst>
          </p:cNvPr>
          <p:cNvSpPr>
            <a:spLocks noGrp="1"/>
          </p:cNvSpPr>
          <p:nvPr>
            <p:ph type="title"/>
          </p:nvPr>
        </p:nvSpPr>
        <p:spPr/>
        <p:txBody>
          <a:bodyPr>
            <a:normAutofit/>
          </a:bodyPr>
          <a:lstStyle/>
          <a:p>
            <a:r>
              <a:rPr lang="en-US" sz="3000" dirty="0">
                <a:solidFill>
                  <a:srgbClr val="FF0000"/>
                </a:solidFill>
              </a:rPr>
              <a:t>Reference</a:t>
            </a:r>
            <a:endParaRPr lang="en-IN" sz="3000" dirty="0">
              <a:solidFill>
                <a:srgbClr val="FF0000"/>
              </a:solidFill>
            </a:endParaRPr>
          </a:p>
        </p:txBody>
      </p:sp>
      <p:sp>
        <p:nvSpPr>
          <p:cNvPr id="4" name="Rectangle 1">
            <a:extLst>
              <a:ext uri="{FF2B5EF4-FFF2-40B4-BE49-F238E27FC236}">
                <a16:creationId xmlns:a16="http://schemas.microsoft.com/office/drawing/2014/main" id="{41684A77-2205-584B-F4B3-77A9D0B5E1E3}"/>
              </a:ext>
            </a:extLst>
          </p:cNvPr>
          <p:cNvSpPr>
            <a:spLocks noGrp="1" noChangeArrowheads="1"/>
          </p:cNvSpPr>
          <p:nvPr>
            <p:ph idx="1"/>
          </p:nvPr>
        </p:nvSpPr>
        <p:spPr bwMode="auto">
          <a:xfrm>
            <a:off x="137652" y="2137220"/>
            <a:ext cx="9006348"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028700" lvl="2" defTabSz="914400" eaLnBrk="0" fontAlgn="base" hangingPunct="0">
              <a:spcBef>
                <a:spcPct val="0"/>
              </a:spcBef>
              <a:spcAft>
                <a:spcPct val="0"/>
              </a:spcAft>
              <a:buFont typeface="+mj-lt"/>
              <a:buAutoNum type="arabicPeriod"/>
              <a:defRPr>
                <a:solidFill/>
              </a:defRPr>
            </a:pPr>
            <a:r>
              <a:t>M. Kim et al., "Enhancing Security Operations Center: Wazuh Security Event Response with Retrieval-Augmented-Generation-Driven Copilot (SERC)," Sensors, vol. 25, no. 3, 2025.</a:t>
            </a:r>
          </a:p>
          <a:p>
            <a:r>
              <a:t>Anthropic, "Model Context Protocol (MCP) Specification &amp; Architecture," 2024–2025. https://modelcontextprotocol.io</a:t>
            </a:r>
          </a:p>
          <a:p>
            <a:r>
              <a:t>Cybersecurity and Infrastructure Security Agency (CISA), "Known Exploited Vulnerabilities (KEV) Catalog," US DHS, 2025–2026.</a:t>
            </a:r>
          </a:p>
          <a:p>
            <a:r>
              <a:t>abuse.ch, "MalwareBazaar &amp; URLhaus Public Threat Intelligence Feeds," 2025. https://bazaar.abuse.ch</a:t>
            </a:r>
          </a:p>
          <a:p>
            <a:r>
              <a:t>MITRE Corporation, "MITRE ATT&amp;CK Enterprise Matrix v15," https://attack.mitre.org</a:t>
            </a:r>
          </a:p>
          <a:p>
            <a:r>
              <a:t>F. Pedregosa et al., "Scikit-learn: Machine Learning in Python," Journal of Machine Learning Research.</a:t>
            </a:r>
          </a:p>
          <a:p>
            <a:r>
              <a:t>Wazuh Documentation, "Wazuh v4.14 Open Source Security Platform," https://documentation.wazuh.com</a:t>
            </a:r>
          </a:p>
        </p:txBody>
      </p:sp>
    </p:spTree>
    <p:extLst>
      <p:ext uri="{BB962C8B-B14F-4D97-AF65-F5344CB8AC3E}">
        <p14:creationId xmlns:p14="http://schemas.microsoft.com/office/powerpoint/2010/main" val="2779395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000" i="1">
                <a:solidFill>
                  <a:srgbClr val="FF0000"/>
                </a:solidFill>
              </a:rPr>
              <a:t>Conclusion</a:t>
            </a:r>
          </a:p>
        </p:txBody>
      </p:sp>
      <p:sp>
        <p:nvSpPr>
          <p:cNvPr id="3" name="Content Placeholder 2"/>
          <p:cNvSpPr>
            <a:spLocks noGrp="1"/>
          </p:cNvSpPr>
          <p:nvPr>
            <p:ph idx="1"/>
          </p:nvPr>
        </p:nvSpPr>
        <p:spPr/>
        <p:txBody>
          <a:bodyPr vert="horz" lIns="91440" tIns="45720" rIns="91440" bIns="45720" rtlCol="0" anchor="t">
            <a:normAutofit/>
          </a:bodyPr>
          <a:lstStyle/>
          <a:p>
            <a:pPr lvl="1" algn="just">
              <a:buChar char="•"/>
              <a:defRPr>
                <a:solidFill/>
              </a:defRPr>
            </a:pPr>
            <a:r>
              <a:t>The proposed project introduces SentinelAI X, an enterprise-grade AI-powered Security Operations platform designed to dramatically accelerate modern SOC operations. By converging Real SIEM Telemetry (Wazuh v4.14.7), 16 Model Context Protocol (MCP) tools, and Applied Machine Learning (IsolationForest &amp; RandomForest), the system eliminates tool-switching, eliminates costly API licensing through free public feeds, and automates active containment.</a:t>
            </a:r>
            <a:endParaRPr lang="en-US" sz="2000" dirty="0">
              <a:ea typeface="Calibri"/>
              <a:cs typeface="Calibri"/>
            </a:endParaRPr>
          </a:p>
          <a:p>
            <a:r>
              <a:t>This work demonstrates the practical application of autonomous AI agents in enterprise cybersecurity defense, slashing Mean Time to Detect (MTTD) and Mean Time to Respond (MTTR) while establishing a solid foundation for future autonomous cyber defense systems.</a:t>
            </a:r>
          </a:p>
        </p:txBody>
      </p:sp>
      <p:pic>
        <p:nvPicPr>
          <p:cNvPr id="4" name="object 7">
            <a:extLst>
              <a:ext uri="{FF2B5EF4-FFF2-40B4-BE49-F238E27FC236}">
                <a16:creationId xmlns:a16="http://schemas.microsoft.com/office/drawing/2014/main" id="{22BE9802-DCF0-BD50-A253-FDF179F8B10B}"/>
              </a:ext>
            </a:extLst>
          </p:cNvPr>
          <p:cNvPicPr/>
          <p:nvPr/>
        </p:nvPicPr>
        <p:blipFill>
          <a:blip r:embed="rId2" cstate="print"/>
          <a:stretch>
            <a:fillRect/>
          </a:stretch>
        </p:blipFill>
        <p:spPr>
          <a:xfrm>
            <a:off x="8029005" y="5986740"/>
            <a:ext cx="1114995" cy="849086"/>
          </a:xfrm>
          <a:prstGeom prst="rect">
            <a:avLst/>
          </a:prstGeom>
        </p:spPr>
      </p:pic>
      <p:pic>
        <p:nvPicPr>
          <p:cNvPr id="5" name="object 2">
            <a:extLst>
              <a:ext uri="{FF2B5EF4-FFF2-40B4-BE49-F238E27FC236}">
                <a16:creationId xmlns:a16="http://schemas.microsoft.com/office/drawing/2014/main" id="{42AAB40E-C895-D3C8-1F77-EB4D227FDDDB}"/>
              </a:ext>
            </a:extLst>
          </p:cNvPr>
          <p:cNvPicPr/>
          <p:nvPr/>
        </p:nvPicPr>
        <p:blipFill>
          <a:blip r:embed="rId3" cstate="print"/>
          <a:stretch>
            <a:fillRect/>
          </a:stretch>
        </p:blipFill>
        <p:spPr>
          <a:xfrm>
            <a:off x="0" y="5772150"/>
            <a:ext cx="1114995" cy="1085850"/>
          </a:xfrm>
          <a:prstGeom prst="rect">
            <a:avLst/>
          </a:prstGeom>
        </p:spPr>
      </p:pic>
      <p:sp>
        <p:nvSpPr>
          <p:cNvPr id="7" name="TextBox 6">
            <a:extLst>
              <a:ext uri="{FF2B5EF4-FFF2-40B4-BE49-F238E27FC236}">
                <a16:creationId xmlns:a16="http://schemas.microsoft.com/office/drawing/2014/main" id="{CE492624-0CAA-7273-EEE7-D7F22A126D7D}"/>
              </a:ext>
            </a:extLst>
          </p:cNvPr>
          <p:cNvSpPr txBox="1"/>
          <p:nvPr/>
        </p:nvSpPr>
        <p:spPr>
          <a:xfrm>
            <a:off x="993074" y="6488668"/>
            <a:ext cx="8029005" cy="400110"/>
          </a:xfrm>
          <a:prstGeom prst="rect">
            <a:avLst/>
          </a:prstGeom>
          <a:noFill/>
        </p:spPr>
        <p:txBody>
          <a:bodyPr wrap="square">
            <a:spAutoFit/>
          </a:bodyPr>
          <a:lstStyle/>
          <a:p>
            <a:r>
              <a:rPr lang="en-US" sz="2000" b="1">
                <a:solidFill>
                  <a:srgbClr val="00B050"/>
                </a:solidFill>
                <a:highlight>
                  <a:srgbClr val="FFFF00"/>
                </a:highlight>
                <a:latin typeface="Algerian" panose="04020705040A02060702" pitchFamily="82" charset="0"/>
              </a:rPr>
              <a:t>SRI SHAKTHI INSTITUTE OF ENGINEERING </a:t>
            </a:r>
            <a:r>
              <a:rPr lang="en-IN" sz="2000" b="1" spc="-25">
                <a:solidFill>
                  <a:srgbClr val="00B050"/>
                </a:solidFill>
                <a:highlight>
                  <a:srgbClr val="FFFF00"/>
                </a:highlight>
                <a:latin typeface="Algerian" panose="04020705040A02060702" pitchFamily="82" charset="0"/>
              </a:rPr>
              <a:t>AND TECHNOLOGY</a:t>
            </a:r>
            <a:endParaRPr lang="en-IN" sz="2000">
              <a:solidFill>
                <a:srgbClr val="00B050"/>
              </a:solidFill>
              <a:highlight>
                <a:srgbClr val="FFFF00"/>
              </a:highligh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CBCBAD7D-82F2-C403-F7B6-0D992197DE36}"/>
              </a:ext>
            </a:extLst>
          </p:cNvPr>
          <p:cNvPicPr>
            <a:picLocks noGrp="1" noChangeAspect="1"/>
          </p:cNvPicPr>
          <p:nvPr>
            <p:ph idx="1"/>
          </p:nvPr>
        </p:nvPicPr>
        <p:blipFill>
          <a:blip r:embed="rId2"/>
          <a:stretch>
            <a:fillRect/>
          </a:stretch>
        </p:blipFill>
        <p:spPr>
          <a:xfrm>
            <a:off x="0" y="0"/>
            <a:ext cx="9092803" cy="6835825"/>
          </a:xfrm>
          <a:prstGeom prst="rect">
            <a:avLst/>
          </a:prstGeom>
        </p:spPr>
      </p:pic>
      <p:pic>
        <p:nvPicPr>
          <p:cNvPr id="5" name="object 2">
            <a:extLst>
              <a:ext uri="{FF2B5EF4-FFF2-40B4-BE49-F238E27FC236}">
                <a16:creationId xmlns:a16="http://schemas.microsoft.com/office/drawing/2014/main" id="{07137D39-30F8-1D83-ED93-01A2B4711D19}"/>
              </a:ext>
            </a:extLst>
          </p:cNvPr>
          <p:cNvPicPr/>
          <p:nvPr/>
        </p:nvPicPr>
        <p:blipFill>
          <a:blip r:embed="rId3" cstate="print"/>
          <a:stretch>
            <a:fillRect/>
          </a:stretch>
        </p:blipFill>
        <p:spPr>
          <a:xfrm>
            <a:off x="0" y="5749976"/>
            <a:ext cx="1114995" cy="1085850"/>
          </a:xfrm>
          <a:prstGeom prst="rect">
            <a:avLst/>
          </a:prstGeom>
        </p:spPr>
      </p:pic>
      <p:sp>
        <p:nvSpPr>
          <p:cNvPr id="7" name="TextBox 6">
            <a:extLst>
              <a:ext uri="{FF2B5EF4-FFF2-40B4-BE49-F238E27FC236}">
                <a16:creationId xmlns:a16="http://schemas.microsoft.com/office/drawing/2014/main" id="{085C546B-EB99-F1DF-36B5-69E2A9B9E797}"/>
              </a:ext>
            </a:extLst>
          </p:cNvPr>
          <p:cNvSpPr txBox="1"/>
          <p:nvPr/>
        </p:nvSpPr>
        <p:spPr>
          <a:xfrm rot="-10800000" flipV="1">
            <a:off x="1003788" y="6454429"/>
            <a:ext cx="7327724"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baseline="0">
                <a:solidFill>
                  <a:srgbClr val="00B050"/>
                </a:solidFill>
                <a:highlight>
                  <a:srgbClr val="FFFF00"/>
                </a:highlight>
                <a:latin typeface="Algerian"/>
              </a:rPr>
              <a:t>SRI SHAKTHI INSTITUTE OF ENGINEERING </a:t>
            </a:r>
            <a:r>
              <a:rPr lang="en-IN" sz="2000" b="1">
                <a:solidFill>
                  <a:srgbClr val="00B050"/>
                </a:solidFill>
                <a:highlight>
                  <a:srgbClr val="FFFF00"/>
                </a:highlight>
                <a:latin typeface="Algerian"/>
              </a:rPr>
              <a:t>AND TECHNOLOGY</a:t>
            </a:r>
            <a:r>
              <a:rPr sz="2000">
                <a:latin typeface="Algerian"/>
                <a:ea typeface="Algerian"/>
                <a:cs typeface="Algerian"/>
              </a:rPr>
              <a:t>​</a:t>
            </a:r>
            <a:endParaRPr lang="en-US"/>
          </a:p>
        </p:txBody>
      </p:sp>
      <p:pic>
        <p:nvPicPr>
          <p:cNvPr id="9" name="object 7">
            <a:extLst>
              <a:ext uri="{FF2B5EF4-FFF2-40B4-BE49-F238E27FC236}">
                <a16:creationId xmlns:a16="http://schemas.microsoft.com/office/drawing/2014/main" id="{CAF9BED2-AF0F-9E59-67FD-5DE1847E080C}"/>
              </a:ext>
            </a:extLst>
          </p:cNvPr>
          <p:cNvPicPr/>
          <p:nvPr/>
        </p:nvPicPr>
        <p:blipFill>
          <a:blip r:embed="rId4" cstate="print"/>
          <a:stretch>
            <a:fillRect/>
          </a:stretch>
        </p:blipFill>
        <p:spPr>
          <a:xfrm>
            <a:off x="8029005" y="5986740"/>
            <a:ext cx="1114995" cy="849086"/>
          </a:xfrm>
          <a:prstGeom prst="rect">
            <a:avLst/>
          </a:prstGeom>
        </p:spPr>
      </p:pic>
      <p:sp>
        <p:nvSpPr>
          <p:cNvPr id="10" name="Title 9">
            <a:extLst>
              <a:ext uri="{FF2B5EF4-FFF2-40B4-BE49-F238E27FC236}">
                <a16:creationId xmlns:a16="http://schemas.microsoft.com/office/drawing/2014/main" id="{12DDE079-744D-32A4-FCF1-8B5F6C770CF9}"/>
              </a:ext>
            </a:extLst>
          </p:cNvPr>
          <p:cNvSpPr>
            <a:spLocks noGrp="1"/>
          </p:cNvSpPr>
          <p:nvPr>
            <p:ph type="title"/>
          </p:nvPr>
        </p:nvSpPr>
        <p:spPr/>
        <p:txBody>
          <a:bodyPr/>
          <a:lstStyle/>
          <a:p>
            <a:r>
              <a:t>THANK YOU</a:t>
            </a:r>
          </a:p>
          <a:p>
            <a:r>
              <a:t>Questions &amp; Discussion</a:t>
            </a:r>
          </a:p>
        </p:txBody>
      </p:sp>
    </p:spTree>
    <p:extLst>
      <p:ext uri="{BB962C8B-B14F-4D97-AF65-F5344CB8AC3E}">
        <p14:creationId xmlns:p14="http://schemas.microsoft.com/office/powerpoint/2010/main" val="35161619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282</TotalTime>
  <Words>775</Words>
  <Application>Microsoft Office PowerPoint</Application>
  <PresentationFormat>On-screen Show (4:3)</PresentationFormat>
  <Paragraphs>85</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Algerian</vt:lpstr>
      <vt:lpstr>Arial</vt:lpstr>
      <vt:lpstr>Calibri</vt:lpstr>
      <vt:lpstr>Times New Roman</vt:lpstr>
      <vt:lpstr>Office Theme</vt:lpstr>
      <vt:lpstr>PowerPoint Presentation</vt:lpstr>
      <vt:lpstr>Problem Statement</vt:lpstr>
      <vt:lpstr>Abstract</vt:lpstr>
      <vt:lpstr>PowerPoint Presentation</vt:lpstr>
      <vt:lpstr>Proposed Solution</vt:lpstr>
      <vt:lpstr>Modules</vt:lpstr>
      <vt:lpstr>Workflow</vt:lpstr>
      <vt:lpstr>Tools Required</vt:lpstr>
      <vt:lpstr>Reference</vt:lpstr>
      <vt:lpstr>Conclusion</vt:lpstr>
      <vt:lpstr>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mathesh t</cp:lastModifiedBy>
  <cp:revision>6</cp:revision>
  <dcterms:created xsi:type="dcterms:W3CDTF">2013-01-27T09:14:16Z</dcterms:created>
  <dcterms:modified xsi:type="dcterms:W3CDTF">2026-09-24T16:20:45Z</dcterms:modified>
  <cp:category/>
</cp:coreProperties>
</file>