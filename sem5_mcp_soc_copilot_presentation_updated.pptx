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jpg" ContentType="image/jpg"/>
  <Override PartName="/ppt/media/image2.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4" r:id="rId2"/>
    <p:sldId id="257" r:id="rId3"/>
    <p:sldId id="276" r:id="rId4"/>
    <p:sldId id="280" r:id="rId5"/>
    <p:sldId id="258" r:id="rId6"/>
    <p:sldId id="279" r:id="rId7"/>
    <p:sldId id="278" r:id="rId8"/>
    <p:sldId id="260" r:id="rId9"/>
    <p:sldId id="277" r:id="rId10"/>
    <p:sldId id="273" r:id="rId11"/>
    <p:sldId id="27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A1B1F-E1EB-48C0-8915-2D618768F9CC}" v="10" dt="2026-07-23T03:15:04.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36" autoAdjust="0"/>
    <p:restoredTop sz="94660"/>
  </p:normalViewPr>
  <p:slideViewPr>
    <p:cSldViewPr snapToGrid="0">
      <p:cViewPr varScale="1">
        <p:scale>
          <a:sx n="78" d="100"/>
          <a:sy n="78" d="100"/>
        </p:scale>
        <p:origin x="160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evithkumar775@outlook.com" userId="beebfe8987aa830a" providerId="LiveId" clId="{952F0A22-8037-4472-9452-BD7208E78A99}"/>
    <pc:docChg chg="addSld modSld sldOrd">
      <pc:chgData name="jeevithkumar775@outlook.com" userId="beebfe8987aa830a" providerId="LiveId" clId="{952F0A22-8037-4472-9452-BD7208E78A99}" dt="2026-07-23T03:18:40.361" v="63" actId="123"/>
      <pc:docMkLst>
        <pc:docMk/>
      </pc:docMkLst>
      <pc:sldChg chg="modSp mod">
        <pc:chgData name="jeevithkumar775@outlook.com" userId="beebfe8987aa830a" providerId="LiveId" clId="{952F0A22-8037-4472-9452-BD7208E78A99}" dt="2026-07-23T03:18:40.361" v="63" actId="123"/>
        <pc:sldMkLst>
          <pc:docMk/>
          <pc:sldMk cId="0" sldId="257"/>
        </pc:sldMkLst>
        <pc:spChg chg="mod">
          <ac:chgData name="jeevithkumar775@outlook.com" userId="beebfe8987aa830a" providerId="LiveId" clId="{952F0A22-8037-4472-9452-BD7208E78A99}" dt="2026-07-23T03:18:40.361" v="63" actId="123"/>
          <ac:spMkLst>
            <pc:docMk/>
            <pc:sldMk cId="0" sldId="257"/>
            <ac:spMk id="3" creationId="{00000000-0000-0000-0000-000000000000}"/>
          </ac:spMkLst>
        </pc:spChg>
      </pc:sldChg>
      <pc:sldChg chg="modSp mod">
        <pc:chgData name="jeevithkumar775@outlook.com" userId="beebfe8987aa830a" providerId="LiveId" clId="{952F0A22-8037-4472-9452-BD7208E78A99}" dt="2026-07-23T03:18:05.457" v="60" actId="120"/>
        <pc:sldMkLst>
          <pc:docMk/>
          <pc:sldMk cId="0" sldId="258"/>
        </pc:sldMkLst>
        <pc:spChg chg="mod">
          <ac:chgData name="jeevithkumar775@outlook.com" userId="beebfe8987aa830a" providerId="LiveId" clId="{952F0A22-8037-4472-9452-BD7208E78A99}" dt="2026-07-23T03:18:05.457" v="60" actId="120"/>
          <ac:spMkLst>
            <pc:docMk/>
            <pc:sldMk cId="0" sldId="258"/>
            <ac:spMk id="3" creationId="{00000000-0000-0000-0000-000000000000}"/>
          </ac:spMkLst>
        </pc:spChg>
      </pc:sldChg>
      <pc:sldChg chg="modSp mod ord">
        <pc:chgData name="jeevithkumar775@outlook.com" userId="beebfe8987aa830a" providerId="LiveId" clId="{952F0A22-8037-4472-9452-BD7208E78A99}" dt="2026-07-23T03:18:16.787" v="61" actId="123"/>
        <pc:sldMkLst>
          <pc:docMk/>
          <pc:sldMk cId="0" sldId="273"/>
        </pc:sldMkLst>
        <pc:spChg chg="mod">
          <ac:chgData name="jeevithkumar775@outlook.com" userId="beebfe8987aa830a" providerId="LiveId" clId="{952F0A22-8037-4472-9452-BD7208E78A99}" dt="2026-07-23T03:18:16.787" v="61" actId="123"/>
          <ac:spMkLst>
            <pc:docMk/>
            <pc:sldMk cId="0" sldId="273"/>
            <ac:spMk id="3" creationId="{00000000-0000-0000-0000-000000000000}"/>
          </ac:spMkLst>
        </pc:spChg>
      </pc:sldChg>
      <pc:sldChg chg="modSp mod">
        <pc:chgData name="jeevithkumar775@outlook.com" userId="beebfe8987aa830a" providerId="LiveId" clId="{952F0A22-8037-4472-9452-BD7208E78A99}" dt="2026-07-23T03:17:48.267" v="57" actId="123"/>
        <pc:sldMkLst>
          <pc:docMk/>
          <pc:sldMk cId="68911900" sldId="276"/>
        </pc:sldMkLst>
        <pc:spChg chg="mod">
          <ac:chgData name="jeevithkumar775@outlook.com" userId="beebfe8987aa830a" providerId="LiveId" clId="{952F0A22-8037-4472-9452-BD7208E78A99}" dt="2026-07-23T03:17:48.267" v="57" actId="123"/>
          <ac:spMkLst>
            <pc:docMk/>
            <pc:sldMk cId="68911900" sldId="276"/>
            <ac:spMk id="4" creationId="{90EC8939-F3A4-D3FC-4914-CD0385E7CC8A}"/>
          </ac:spMkLst>
        </pc:spChg>
      </pc:sldChg>
      <pc:sldChg chg="addSp delSp modSp new mod ord">
        <pc:chgData name="jeevithkumar775@outlook.com" userId="beebfe8987aa830a" providerId="LiveId" clId="{952F0A22-8037-4472-9452-BD7208E78A99}" dt="2026-07-11T05:08:57.836" v="15"/>
        <pc:sldMkLst>
          <pc:docMk/>
          <pc:sldMk cId="2691587638" sldId="278"/>
        </pc:sldMkLst>
        <pc:spChg chg="mod">
          <ac:chgData name="jeevithkumar775@outlook.com" userId="beebfe8987aa830a" providerId="LiveId" clId="{952F0A22-8037-4472-9452-BD7208E78A99}" dt="2026-07-11T04:55:59.056" v="12" actId="207"/>
          <ac:spMkLst>
            <pc:docMk/>
            <pc:sldMk cId="2691587638" sldId="278"/>
            <ac:spMk id="2" creationId="{C2A22214-6FC9-BE44-A731-A3EF02090A80}"/>
          </ac:spMkLst>
        </pc:spChg>
        <pc:picChg chg="add mod ord">
          <ac:chgData name="jeevithkumar775@outlook.com" userId="beebfe8987aa830a" providerId="LiveId" clId="{952F0A22-8037-4472-9452-BD7208E78A99}" dt="2026-07-11T04:56:24.380" v="13" actId="14100"/>
          <ac:picMkLst>
            <pc:docMk/>
            <pc:sldMk cId="2691587638" sldId="278"/>
            <ac:picMk id="5" creationId="{D959E190-10A9-5E67-68AF-7E920E90AE8F}"/>
          </ac:picMkLst>
        </pc:picChg>
      </pc:sldChg>
      <pc:sldChg chg="modSp new mod">
        <pc:chgData name="jeevithkumar775@outlook.com" userId="beebfe8987aa830a" providerId="LiveId" clId="{952F0A22-8037-4472-9452-BD7208E78A99}" dt="2026-07-23T03:17:00.206" v="55" actId="20577"/>
        <pc:sldMkLst>
          <pc:docMk/>
          <pc:sldMk cId="73125935" sldId="279"/>
        </pc:sldMkLst>
        <pc:spChg chg="mod">
          <ac:chgData name="jeevithkumar775@outlook.com" userId="beebfe8987aa830a" providerId="LiveId" clId="{952F0A22-8037-4472-9452-BD7208E78A99}" dt="2026-07-23T03:11:19.607" v="29" actId="255"/>
          <ac:spMkLst>
            <pc:docMk/>
            <pc:sldMk cId="73125935" sldId="279"/>
            <ac:spMk id="2" creationId="{6AF7A8B3-5373-8433-2CF2-4085851C3ADE}"/>
          </ac:spMkLst>
        </pc:spChg>
        <pc:spChg chg="mod">
          <ac:chgData name="jeevithkumar775@outlook.com" userId="beebfe8987aa830a" providerId="LiveId" clId="{952F0A22-8037-4472-9452-BD7208E78A99}" dt="2026-07-23T03:17:00.206" v="55" actId="20577"/>
          <ac:spMkLst>
            <pc:docMk/>
            <pc:sldMk cId="73125935" sldId="279"/>
            <ac:spMk id="3" creationId="{8286E919-5887-06FD-7978-B2FFC06FE78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ttack.mitre.org/" TargetMode="External"/><Relationship Id="rId3" Type="http://schemas.openxmlformats.org/officeDocument/2006/relationships/hyperlink" Target="https://documentation.wazuh.com/" TargetMode="External"/><Relationship Id="rId4" Type="http://schemas.openxmlformats.org/officeDocument/2006/relationships/hyperlink" Target="https://developers.virustota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0199BE-31C0-2504-0B84-09689E8EB80D}"/>
              </a:ext>
            </a:extLst>
          </p:cNvPr>
          <p:cNvSpPr txBox="1"/>
          <p:nvPr/>
        </p:nvSpPr>
        <p:spPr>
          <a:xfrm>
            <a:off x="88490" y="4248230"/>
            <a:ext cx="3944518" cy="917624"/>
          </a:xfrm>
          <a:prstGeom prst="rect">
            <a:avLst/>
          </a:prstGeom>
          <a:noFill/>
        </p:spPr>
        <p:txBody>
          <a:bodyPr wrap="square">
            <a:spAutoFit/>
          </a:bodyPr>
          <a:lstStyle/>
          <a:p>
            <a:pPr marL="9525">
              <a:spcBef>
                <a:spcPts val="75"/>
              </a:spcBef>
            </a:pPr>
            <a:r>
              <a:rPr lang="en-US" sz="1350" b="1" dirty="0">
                <a:latin typeface="Times New Roman"/>
                <a:cs typeface="Times New Roman"/>
              </a:rPr>
              <a:t>GUIDED</a:t>
            </a:r>
            <a:r>
              <a:rPr lang="en-US" sz="1350" b="1" spc="-23" dirty="0">
                <a:latin typeface="Times New Roman"/>
                <a:cs typeface="Times New Roman"/>
              </a:rPr>
              <a:t> </a:t>
            </a:r>
            <a:r>
              <a:rPr lang="en-US" sz="1350" b="1" spc="-19" dirty="0">
                <a:latin typeface="Times New Roman"/>
                <a:cs typeface="Times New Roman"/>
              </a:rPr>
              <a:t>BY,</a:t>
            </a:r>
            <a:endParaRPr lang="en-US" sz="1350" dirty="0">
              <a:latin typeface="Times New Roman"/>
              <a:cs typeface="Times New Roman"/>
            </a:endParaRPr>
          </a:p>
          <a:p>
            <a:pPr marL="9525" marR="4286">
              <a:lnSpc>
                <a:spcPct val="100800"/>
              </a:lnSpc>
            </a:pPr>
            <a:r>
              <a:rPr lang="en-US" sz="1350" spc="-34" dirty="0">
                <a:latin typeface="Times New Roman"/>
                <a:cs typeface="Times New Roman"/>
              </a:rPr>
              <a:t>Ms. DHIVYA K</a:t>
            </a:r>
            <a:endParaRPr lang="en-US" sz="1350" spc="-38" dirty="0">
              <a:latin typeface="Times New Roman"/>
              <a:cs typeface="Times New Roman"/>
            </a:endParaRPr>
          </a:p>
          <a:p>
            <a:pPr marL="9525" marR="4286">
              <a:lnSpc>
                <a:spcPct val="100800"/>
              </a:lnSpc>
            </a:pPr>
            <a:r>
              <a:rPr lang="en-US" sz="1350" spc="-38" dirty="0">
                <a:latin typeface="Times New Roman"/>
                <a:cs typeface="Times New Roman"/>
              </a:rPr>
              <a:t> </a:t>
            </a:r>
            <a:r>
              <a:rPr lang="en-US" sz="1350" spc="-15" dirty="0">
                <a:latin typeface="Times New Roman"/>
                <a:cs typeface="Times New Roman"/>
              </a:rPr>
              <a:t>ASSISTANT</a:t>
            </a:r>
            <a:r>
              <a:rPr lang="en-US" sz="1350" spc="-8" dirty="0">
                <a:latin typeface="Times New Roman"/>
                <a:cs typeface="Times New Roman"/>
              </a:rPr>
              <a:t> PROFESSOR</a:t>
            </a:r>
          </a:p>
          <a:p>
            <a:pPr marL="9525" marR="4286">
              <a:lnSpc>
                <a:spcPct val="100800"/>
              </a:lnSpc>
            </a:pPr>
            <a:r>
              <a:rPr lang="en-US" sz="1350" spc="-8" dirty="0">
                <a:latin typeface="Times New Roman"/>
                <a:cs typeface="Times New Roman"/>
              </a:rPr>
              <a:t> </a:t>
            </a:r>
            <a:r>
              <a:rPr lang="en-US" sz="1350" dirty="0">
                <a:latin typeface="Times New Roman"/>
                <a:cs typeface="Times New Roman"/>
              </a:rPr>
              <a:t>CSE</a:t>
            </a:r>
            <a:r>
              <a:rPr lang="en-US" sz="1350" spc="-11" dirty="0">
                <a:latin typeface="Times New Roman"/>
                <a:cs typeface="Times New Roman"/>
              </a:rPr>
              <a:t> </a:t>
            </a:r>
            <a:r>
              <a:rPr lang="en-US" sz="1350" spc="-8" dirty="0">
                <a:latin typeface="Times New Roman"/>
                <a:cs typeface="Times New Roman"/>
              </a:rPr>
              <a:t>(CYBERSECURITY)</a:t>
            </a:r>
            <a:endParaRPr lang="en-US" sz="1350" dirty="0">
              <a:latin typeface="Times New Roman"/>
              <a:cs typeface="Times New Roman"/>
            </a:endParaRPr>
          </a:p>
        </p:txBody>
      </p:sp>
      <p:sp>
        <p:nvSpPr>
          <p:cNvPr id="5" name="TextBox 4">
            <a:extLst>
              <a:ext uri="{FF2B5EF4-FFF2-40B4-BE49-F238E27FC236}">
                <a16:creationId xmlns:a16="http://schemas.microsoft.com/office/drawing/2014/main" id="{0B191D2C-C7EB-A237-C409-54BD528865BF}"/>
              </a:ext>
            </a:extLst>
          </p:cNvPr>
          <p:cNvSpPr txBox="1"/>
          <p:nvPr/>
        </p:nvSpPr>
        <p:spPr>
          <a:xfrm>
            <a:off x="737420" y="1893735"/>
            <a:ext cx="7757651" cy="1848135"/>
          </a:xfrm>
          <a:prstGeom prst="rect">
            <a:avLst/>
          </a:prstGeom>
          <a:noFill/>
        </p:spPr>
        <p:txBody>
          <a:bodyPr wrap="square" lIns="91440" tIns="45720" rIns="91440" bIns="45720" anchor="t">
            <a:spAutoFit/>
          </a:bodyPr>
          <a:lstStyle/>
          <a:p>
            <a:pPr marL="7620" algn="ctr">
              <a:spcBef>
                <a:spcPts val="694"/>
              </a:spcBef>
            </a:pPr>
            <a:r>
              <a:rPr lang="en-US" sz="1500" b="1" spc="-8" dirty="0">
                <a:latin typeface="Times New Roman"/>
                <a:cs typeface="Times New Roman"/>
              </a:rPr>
              <a:t>(</a:t>
            </a:r>
            <a:r>
              <a:rPr lang="en-US" b="1" spc="-8" dirty="0">
                <a:latin typeface="Times New Roman"/>
                <a:cs typeface="Times New Roman"/>
              </a:rPr>
              <a:t>AN</a:t>
            </a:r>
            <a:r>
              <a:rPr lang="en-US" b="1" spc="-229" dirty="0">
                <a:latin typeface="Times New Roman"/>
                <a:cs typeface="Times New Roman"/>
              </a:rPr>
              <a:t> </a:t>
            </a:r>
            <a:r>
              <a:rPr lang="en-US" b="1" spc="-15" dirty="0">
                <a:latin typeface="Times New Roman"/>
                <a:cs typeface="Times New Roman"/>
              </a:rPr>
              <a:t>AUTONOMOUS</a:t>
            </a:r>
            <a:r>
              <a:rPr lang="en-US" b="1" spc="-60" dirty="0">
                <a:latin typeface="Times New Roman"/>
                <a:cs typeface="Times New Roman"/>
              </a:rPr>
              <a:t> </a:t>
            </a:r>
            <a:r>
              <a:rPr lang="en-US" b="1" spc="-8" dirty="0">
                <a:latin typeface="Times New Roman"/>
                <a:cs typeface="Times New Roman"/>
              </a:rPr>
              <a:t>INSTITUTION)</a:t>
            </a:r>
            <a:endParaRPr lang="en-US" dirty="0">
              <a:latin typeface="Times New Roman"/>
              <a:cs typeface="Times New Roman"/>
            </a:endParaRPr>
          </a:p>
          <a:p>
            <a:pPr marL="15875" marR="3810" algn="ctr">
              <a:lnSpc>
                <a:spcPts val="2198"/>
              </a:lnSpc>
              <a:spcBef>
                <a:spcPts val="135"/>
              </a:spcBef>
            </a:pPr>
            <a:r>
              <a:rPr lang="en-US" sz="1350" spc="-23" dirty="0">
                <a:latin typeface="Times New Roman"/>
                <a:cs typeface="Times New Roman"/>
              </a:rPr>
              <a:t>DEPARTMENT</a:t>
            </a:r>
            <a:r>
              <a:rPr lang="en-US" sz="1350" spc="34" dirty="0">
                <a:latin typeface="Times New Roman"/>
                <a:cs typeface="Times New Roman"/>
              </a:rPr>
              <a:t> </a:t>
            </a:r>
            <a:r>
              <a:rPr lang="en-US" sz="1350" dirty="0">
                <a:latin typeface="Times New Roman"/>
                <a:cs typeface="Times New Roman"/>
              </a:rPr>
              <a:t>OF</a:t>
            </a:r>
            <a:r>
              <a:rPr lang="en-US" sz="1350" spc="-105" dirty="0">
                <a:latin typeface="Times New Roman"/>
                <a:cs typeface="Times New Roman"/>
              </a:rPr>
              <a:t> </a:t>
            </a:r>
            <a:r>
              <a:rPr lang="en-US" sz="1350" dirty="0">
                <a:latin typeface="Times New Roman"/>
                <a:cs typeface="Times New Roman"/>
              </a:rPr>
              <a:t>COMPUTER</a:t>
            </a:r>
            <a:r>
              <a:rPr lang="en-US" sz="1350" spc="-4" dirty="0">
                <a:latin typeface="Times New Roman"/>
                <a:cs typeface="Times New Roman"/>
              </a:rPr>
              <a:t> </a:t>
            </a:r>
            <a:r>
              <a:rPr lang="en-US" sz="1350" spc="-15" dirty="0">
                <a:latin typeface="Times New Roman"/>
                <a:cs typeface="Times New Roman"/>
              </a:rPr>
              <a:t>SCIENCE</a:t>
            </a:r>
            <a:r>
              <a:rPr lang="en-US" sz="1350" spc="-83" dirty="0">
                <a:latin typeface="Times New Roman"/>
                <a:cs typeface="Times New Roman"/>
              </a:rPr>
              <a:t> </a:t>
            </a:r>
            <a:r>
              <a:rPr lang="en-US" sz="1350" dirty="0">
                <a:latin typeface="Times New Roman"/>
                <a:cs typeface="Times New Roman"/>
              </a:rPr>
              <a:t>AND</a:t>
            </a:r>
            <a:r>
              <a:rPr lang="en-US" sz="1350" spc="-19" dirty="0">
                <a:latin typeface="Times New Roman"/>
                <a:cs typeface="Times New Roman"/>
              </a:rPr>
              <a:t> </a:t>
            </a:r>
            <a:r>
              <a:rPr lang="en-US" sz="1350" spc="-8" dirty="0">
                <a:latin typeface="Times New Roman"/>
                <a:cs typeface="Times New Roman"/>
              </a:rPr>
              <a:t>ENGINEERING </a:t>
            </a:r>
            <a:r>
              <a:rPr lang="en-US" sz="1350" dirty="0">
                <a:latin typeface="Times New Roman"/>
                <a:cs typeface="Times New Roman"/>
              </a:rPr>
              <a:t>(CYBER</a:t>
            </a:r>
            <a:r>
              <a:rPr lang="en-US" sz="1350" spc="-11" dirty="0">
                <a:latin typeface="Times New Roman"/>
                <a:cs typeface="Times New Roman"/>
              </a:rPr>
              <a:t> </a:t>
            </a:r>
            <a:r>
              <a:rPr lang="en-US" sz="1350" spc="-8" dirty="0">
                <a:latin typeface="Times New Roman"/>
                <a:cs typeface="Times New Roman"/>
              </a:rPr>
              <a:t>SECURITY)</a:t>
            </a:r>
            <a:endParaRPr lang="en-US" sz="1350" dirty="0">
              <a:latin typeface="Times New Roman"/>
              <a:cs typeface="Times New Roman"/>
            </a:endParaRPr>
          </a:p>
          <a:p>
            <a:pPr marL="8255" algn="ctr">
              <a:spcBef>
                <a:spcPts val="368"/>
              </a:spcBef>
            </a:pPr>
            <a:r>
              <a:rPr lang="en-US" sz="1350" dirty="0">
                <a:latin typeface="Times New Roman"/>
                <a:cs typeface="Times New Roman"/>
              </a:rPr>
              <a:t>21CY411-</a:t>
            </a:r>
            <a:r>
              <a:rPr lang="en-US" sz="1350" spc="-34" dirty="0">
                <a:latin typeface="Times New Roman"/>
                <a:cs typeface="Times New Roman"/>
              </a:rPr>
              <a:t> </a:t>
            </a:r>
            <a:r>
              <a:rPr lang="en-US" sz="1350" dirty="0">
                <a:latin typeface="Times New Roman"/>
                <a:cs typeface="Times New Roman"/>
              </a:rPr>
              <a:t>ENGINEERING</a:t>
            </a:r>
            <a:r>
              <a:rPr lang="en-US" sz="1350" spc="-41" dirty="0">
                <a:latin typeface="Times New Roman"/>
                <a:cs typeface="Times New Roman"/>
              </a:rPr>
              <a:t> </a:t>
            </a:r>
            <a:r>
              <a:rPr lang="en-US" sz="1350" spc="-19" dirty="0">
                <a:latin typeface="Times New Roman"/>
                <a:cs typeface="Times New Roman"/>
              </a:rPr>
              <a:t>EXPLORATION</a:t>
            </a:r>
            <a:r>
              <a:rPr lang="en-US" sz="1350" spc="-45" dirty="0">
                <a:latin typeface="Times New Roman"/>
                <a:cs typeface="Times New Roman"/>
              </a:rPr>
              <a:t> - V</a:t>
            </a:r>
            <a:endParaRPr lang="en-US" sz="1350" dirty="0">
              <a:latin typeface="Times New Roman"/>
              <a:cs typeface="Times New Roman"/>
            </a:endParaRPr>
          </a:p>
          <a:p>
            <a:pPr>
              <a:spcBef>
                <a:spcPts val="626"/>
              </a:spcBef>
            </a:pPr>
            <a:endParaRPr lang="en-US" sz="1350" b="1" dirty="0">
              <a:latin typeface="Times New Roman"/>
              <a:cs typeface="Times New Roman"/>
            </a:endParaRPr>
          </a:p>
          <a:p>
            <a:pPr marR="27940" algn="ctr">
              <a:lnSpc>
                <a:spcPts val="1650"/>
              </a:lnSpc>
            </a:pPr>
            <a:r>
              <a:rPr sz="1350" b="1">
                <a:latin typeface="Times New Roman"/>
              </a:rPr>
              <a:t>TITLE : </a:t>
            </a:r>
            <a:r>
              <a:rPr sz="1300" b="1">
                <a:latin typeface="Times New Roman"/>
              </a:rPr>
              <a:t>SENTINELAI X — MCP-ENABLED COPILOT &amp; ML THREAT ENGINE FOR FASTER SOC INVESTIGATION</a:t>
            </a:r>
            <a:endParaRPr lang="en-US" sz="1400" b="1" spc="-19" dirty="0">
              <a:latin typeface="Times New Roman"/>
              <a:cs typeface="Times New Roman"/>
            </a:endParaRPr>
          </a:p>
          <a:p>
            <a:pPr marR="27940" algn="ctr">
              <a:lnSpc>
                <a:spcPts val="1650"/>
              </a:lnSpc>
            </a:pPr>
            <a:endParaRPr lang="en-US" sz="1350" dirty="0">
              <a:latin typeface="Times New Roman"/>
              <a:cs typeface="Times New Roman"/>
            </a:endParaRPr>
          </a:p>
          <a:p>
            <a:pPr marL="1905" algn="ctr">
              <a:lnSpc>
                <a:spcPts val="1650"/>
              </a:lnSpc>
            </a:pPr>
            <a:r>
              <a:rPr lang="en-US" sz="1350" b="1" dirty="0">
                <a:latin typeface="Times New Roman"/>
                <a:cs typeface="Times New Roman"/>
              </a:rPr>
              <a:t>DOMAIN</a:t>
            </a:r>
            <a:r>
              <a:rPr lang="en-US" sz="1350" b="1" spc="-30" dirty="0">
                <a:latin typeface="Times New Roman"/>
                <a:cs typeface="Times New Roman"/>
              </a:rPr>
              <a:t> </a:t>
            </a:r>
            <a:r>
              <a:rPr lang="en-US" sz="1350" b="1" dirty="0">
                <a:latin typeface="Times New Roman"/>
                <a:cs typeface="Times New Roman"/>
              </a:rPr>
              <a:t>:</a:t>
            </a:r>
            <a:r>
              <a:rPr lang="en-US" sz="1350" b="1" spc="-23" dirty="0">
                <a:latin typeface="Times New Roman"/>
                <a:cs typeface="Times New Roman"/>
              </a:rPr>
              <a:t> CYBER SECURITY</a:t>
            </a:r>
            <a:endParaRPr lang="en-US" sz="1350" dirty="0">
              <a:latin typeface="Times New Roman"/>
              <a:cs typeface="Times New Roman"/>
            </a:endParaRPr>
          </a:p>
        </p:txBody>
      </p:sp>
      <p:sp>
        <p:nvSpPr>
          <p:cNvPr id="7" name="TextBox 6">
            <a:extLst>
              <a:ext uri="{FF2B5EF4-FFF2-40B4-BE49-F238E27FC236}">
                <a16:creationId xmlns:a16="http://schemas.microsoft.com/office/drawing/2014/main" id="{9D49FE4E-D663-0564-56C0-DF4B763DAFF4}"/>
              </a:ext>
            </a:extLst>
          </p:cNvPr>
          <p:cNvSpPr txBox="1"/>
          <p:nvPr/>
        </p:nvSpPr>
        <p:spPr>
          <a:xfrm>
            <a:off x="6415549" y="3960412"/>
            <a:ext cx="2728451" cy="1276696"/>
          </a:xfrm>
          <a:prstGeom prst="rect">
            <a:avLst/>
          </a:prstGeom>
          <a:noFill/>
        </p:spPr>
        <p:txBody>
          <a:bodyPr wrap="square">
            <a:spAutoFit/>
          </a:bodyPr>
          <a:lstStyle/>
          <a:p>
            <a:pPr marL="9525">
              <a:spcBef>
                <a:spcPts val="424"/>
              </a:spcBef>
            </a:pPr>
            <a:r>
              <a:rPr lang="en-IN" sz="1350" b="1" dirty="0">
                <a:latin typeface="Times New Roman"/>
                <a:cs typeface="Times New Roman"/>
              </a:rPr>
              <a:t>PRESENTED</a:t>
            </a:r>
            <a:r>
              <a:rPr lang="en-IN" sz="1350" b="1" spc="131" dirty="0">
                <a:latin typeface="Times New Roman"/>
                <a:cs typeface="Times New Roman"/>
              </a:rPr>
              <a:t> </a:t>
            </a:r>
            <a:r>
              <a:rPr lang="en-IN" sz="1350" b="1" spc="-19" dirty="0">
                <a:latin typeface="Times New Roman"/>
                <a:cs typeface="Times New Roman"/>
              </a:rPr>
              <a:t>BY,</a:t>
            </a:r>
            <a:endParaRPr lang="en-IN" sz="1350" dirty="0">
              <a:latin typeface="Times New Roman"/>
              <a:cs typeface="Times New Roman"/>
            </a:endParaRPr>
          </a:p>
          <a:p>
            <a:pPr marL="9525">
              <a:spcBef>
                <a:spcPts val="349"/>
              </a:spcBef>
            </a:pPr>
            <a:r>
              <a:rPr lang="en-IN" sz="1350" spc="-15" dirty="0">
                <a:latin typeface="Times New Roman"/>
                <a:cs typeface="Times New Roman"/>
              </a:rPr>
              <a:t>TEAM</a:t>
            </a:r>
            <a:r>
              <a:rPr lang="en-IN" sz="1350" spc="-86" dirty="0">
                <a:latin typeface="Times New Roman"/>
                <a:cs typeface="Times New Roman"/>
              </a:rPr>
              <a:t> </a:t>
            </a:r>
            <a:r>
              <a:rPr lang="en-IN" sz="1350" spc="-15" dirty="0">
                <a:latin typeface="Times New Roman"/>
                <a:cs typeface="Times New Roman"/>
              </a:rPr>
              <a:t>NUMBER:</a:t>
            </a:r>
            <a:r>
              <a:rPr lang="en-IN" sz="1350" spc="-34" dirty="0">
                <a:latin typeface="Times New Roman"/>
                <a:cs typeface="Times New Roman"/>
              </a:rPr>
              <a:t> </a:t>
            </a:r>
            <a:r>
              <a:rPr lang="en-IN" sz="1350" spc="-19" dirty="0">
                <a:latin typeface="Times New Roman"/>
                <a:cs typeface="Times New Roman"/>
              </a:rPr>
              <a:t>25</a:t>
            </a:r>
          </a:p>
          <a:p>
            <a:pPr marL="9525">
              <a:spcBef>
                <a:spcPts val="349"/>
              </a:spcBef>
            </a:pPr>
            <a:r>
              <a:rPr lang="en-IN" sz="1350" spc="-19" dirty="0">
                <a:latin typeface="Times New Roman"/>
                <a:cs typeface="Times New Roman"/>
              </a:rPr>
              <a:t>MATHESH.T(714024149059)</a:t>
            </a:r>
            <a:endParaRPr lang="en-IN" sz="1350" dirty="0">
              <a:latin typeface="Times New Roman"/>
              <a:cs typeface="Times New Roman"/>
            </a:endParaRPr>
          </a:p>
          <a:p>
            <a:pPr marL="9525" marR="3810">
              <a:lnSpc>
                <a:spcPct val="121700"/>
              </a:lnSpc>
            </a:pPr>
            <a:r>
              <a:rPr lang="en-IN" sz="1350" spc="-26" dirty="0">
                <a:latin typeface="Times New Roman"/>
                <a:cs typeface="Times New Roman"/>
              </a:rPr>
              <a:t>JEEVITHKUMAR.P(714024149043)</a:t>
            </a:r>
          </a:p>
          <a:p>
            <a:pPr marL="9525" marR="3810">
              <a:lnSpc>
                <a:spcPct val="121700"/>
              </a:lnSpc>
            </a:pPr>
            <a:r>
              <a:rPr lang="en-IN" sz="1350" spc="-26" dirty="0">
                <a:latin typeface="Times New Roman"/>
                <a:cs typeface="Times New Roman"/>
              </a:rPr>
              <a:t>B.E-</a:t>
            </a:r>
            <a:r>
              <a:rPr lang="en-IN" sz="1350" dirty="0">
                <a:latin typeface="Times New Roman"/>
                <a:cs typeface="Times New Roman"/>
              </a:rPr>
              <a:t>CSE</a:t>
            </a:r>
            <a:r>
              <a:rPr lang="en-IN" sz="1350" spc="-41" dirty="0">
                <a:latin typeface="Times New Roman"/>
                <a:cs typeface="Times New Roman"/>
              </a:rPr>
              <a:t> </a:t>
            </a:r>
            <a:r>
              <a:rPr lang="en-IN" sz="1350" spc="-8" dirty="0">
                <a:latin typeface="Times New Roman"/>
                <a:cs typeface="Times New Roman"/>
              </a:rPr>
              <a:t>(CYBER SECURITY)</a:t>
            </a:r>
            <a:endParaRPr lang="en-IN" sz="1350" dirty="0">
              <a:latin typeface="Times New Roman"/>
              <a:cs typeface="Times New Roman"/>
            </a:endParaRPr>
          </a:p>
        </p:txBody>
      </p:sp>
      <p:sp>
        <p:nvSpPr>
          <p:cNvPr id="9" name="TextBox 8">
            <a:extLst>
              <a:ext uri="{FF2B5EF4-FFF2-40B4-BE49-F238E27FC236}">
                <a16:creationId xmlns:a16="http://schemas.microsoft.com/office/drawing/2014/main" id="{A443E129-6D70-5EED-343F-E367CE3CB51B}"/>
              </a:ext>
            </a:extLst>
          </p:cNvPr>
          <p:cNvSpPr txBox="1"/>
          <p:nvPr/>
        </p:nvSpPr>
        <p:spPr>
          <a:xfrm>
            <a:off x="1246239" y="1189089"/>
            <a:ext cx="7897761" cy="369332"/>
          </a:xfrm>
          <a:prstGeom prst="rect">
            <a:avLst/>
          </a:prstGeom>
          <a:noFill/>
        </p:spPr>
        <p:txBody>
          <a:bodyPr wrap="square">
            <a:spAutoFit/>
          </a:bodyPr>
          <a:lstStyle/>
          <a:p>
            <a:r>
              <a:rPr lang="en-US" b="1">
                <a:solidFill>
                  <a:srgbClr val="00B050"/>
                </a:solidFill>
                <a:highlight>
                  <a:srgbClr val="FFFF00"/>
                </a:highlight>
                <a:latin typeface="Algerian" panose="04020705040A02060702" pitchFamily="82" charset="0"/>
              </a:rPr>
              <a:t>SRI SHAKTHI INSTITUTE OF ENGINEERING </a:t>
            </a:r>
            <a:r>
              <a:rPr lang="en-IN" b="1" spc="-19">
                <a:solidFill>
                  <a:srgbClr val="00B050"/>
                </a:solidFill>
                <a:highlight>
                  <a:srgbClr val="FFFF00"/>
                </a:highlight>
                <a:latin typeface="Algerian" panose="04020705040A02060702" pitchFamily="82" charset="0"/>
              </a:rPr>
              <a:t>AND TECHNOLOGY</a:t>
            </a:r>
            <a:endParaRPr lang="en-IN">
              <a:solidFill>
                <a:srgbClr val="00B050"/>
              </a:solidFill>
              <a:highlight>
                <a:srgbClr val="FFFF00"/>
              </a:highlight>
            </a:endParaRPr>
          </a:p>
        </p:txBody>
      </p:sp>
      <p:pic>
        <p:nvPicPr>
          <p:cNvPr id="10" name="object 2">
            <a:extLst>
              <a:ext uri="{FF2B5EF4-FFF2-40B4-BE49-F238E27FC236}">
                <a16:creationId xmlns:a16="http://schemas.microsoft.com/office/drawing/2014/main" id="{F5AC0780-DF29-72F7-87BC-FFA7EB58DF8A}"/>
              </a:ext>
            </a:extLst>
          </p:cNvPr>
          <p:cNvPicPr/>
          <p:nvPr/>
        </p:nvPicPr>
        <p:blipFill>
          <a:blip r:embed="rId2" cstate="print"/>
          <a:stretch>
            <a:fillRect/>
          </a:stretch>
        </p:blipFill>
        <p:spPr>
          <a:xfrm>
            <a:off x="110382" y="955005"/>
            <a:ext cx="778669" cy="814388"/>
          </a:xfrm>
          <a:prstGeom prst="rect">
            <a:avLst/>
          </a:prstGeom>
        </p:spPr>
      </p:pic>
      <p:pic>
        <p:nvPicPr>
          <p:cNvPr id="11" name="object 7">
            <a:extLst>
              <a:ext uri="{FF2B5EF4-FFF2-40B4-BE49-F238E27FC236}">
                <a16:creationId xmlns:a16="http://schemas.microsoft.com/office/drawing/2014/main" id="{70E2D5ED-86DC-BBB8-6ACF-384A8BF234F8}"/>
              </a:ext>
            </a:extLst>
          </p:cNvPr>
          <p:cNvPicPr/>
          <p:nvPr/>
        </p:nvPicPr>
        <p:blipFill>
          <a:blip r:embed="rId3" cstate="print"/>
          <a:stretch>
            <a:fillRect/>
          </a:stretch>
        </p:blipFill>
        <p:spPr>
          <a:xfrm>
            <a:off x="7779774" y="993576"/>
            <a:ext cx="966250" cy="737245"/>
          </a:xfrm>
          <a:prstGeom prst="rect">
            <a:avLst/>
          </a:prstGeom>
        </p:spPr>
      </p:pic>
    </p:spTree>
    <p:extLst>
      <p:ext uri="{BB962C8B-B14F-4D97-AF65-F5344CB8AC3E}">
        <p14:creationId xmlns:p14="http://schemas.microsoft.com/office/powerpoint/2010/main" val="3864919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0955"/>
            <a:ext cx="8229600" cy="1143000"/>
          </a:xfrm>
        </p:spPr>
        <p:txBody>
          <a:bodyPr>
            <a:normAutofit/>
          </a:bodyPr>
          <a:lstStyle/>
          <a:p>
            <a:r>
              <a:rPr sz="3000" i="1" dirty="0">
                <a:solidFill>
                  <a:srgbClr val="FF0000"/>
                </a:solidFill>
              </a:rPr>
              <a:t>Problem</a:t>
            </a:r>
            <a:r>
              <a:rPr sz="3000" dirty="0">
                <a:solidFill>
                  <a:srgbClr val="FF0000"/>
                </a:solidFill>
              </a:rPr>
              <a:t> </a:t>
            </a:r>
            <a:r>
              <a:rPr sz="3000" i="1" dirty="0">
                <a:solidFill>
                  <a:srgbClr val="FF0000"/>
                </a:solidFill>
              </a:rPr>
              <a:t>Statement</a:t>
            </a:r>
          </a:p>
        </p:txBody>
      </p:sp>
      <p:sp>
        <p:nvSpPr>
          <p:cNvPr id="3" name="Content Placeholder 2"/>
          <p:cNvSpPr>
            <a:spLocks noGrp="1"/>
          </p:cNvSpPr>
          <p:nvPr>
            <p:ph idx="1"/>
          </p:nvPr>
        </p:nvSpPr>
        <p:spPr>
          <a:xfrm>
            <a:off x="402336" y="1414314"/>
            <a:ext cx="8229600" cy="4708525"/>
          </a:xfrm>
        </p:spPr>
        <p:txBody>
          <a:bodyPr vert="horz" lIns="91440" tIns="45720" rIns="91440" bIns="45720" rtlCol="0" anchor="t">
            <a:normAutofit fontScale="92500" lnSpcReduction="10000"/>
          </a:bodyPr>
          <a:lstStyle/>
          <a:p>
            <a:pPr algn="just">
              <a:spcAft>
                <a:spcPts val="1400"/>
              </a:spcAft>
            </a:pPr>
            <a:r>
              <a:rPr sz="2000" b="0">
                <a:latin typeface="Times New Roman"/>
              </a:rPr>
              <a:t>Security Operations Centers (SOCs) face severe alert fatigue, processing thousands of endpoint and network telemetry alerts daily. Modern SOC analysts must navigate disparate tools (SIEM, threat intelligence feeds, malware sandboxes, vulnerability databases), manually correlating IOCs across disconnected web portals. This manual swivel-chair investigation causes high cognitive load, missed critical alerts, and extended Mean Time to Detect (MTTD) and Respond (MTTR).</a:t>
            </a:r>
          </a:p>
          <a:p>
            <a:pPr algn="just"/>
            <a:r>
              <a:rPr sz="2000" b="0">
                <a:latin typeface="Times New Roman"/>
              </a:rPr>
              <a:t>Furthermore, traditional SIEMs rely on static threshold rules that miss stealthy zero-day attacks and lack real-time Machine Learning anomaly scoring. The proposed project addresses these challenges by developing SentinelAI X: an enterprise AI Security Copilot integrating real Wazuh SIEM v4.14.7, 16 Model Context Protocol (MCP) tools (featuring 6 zero-cost free intelligence feeds), and scikit-learn ML Anomaly Detection into a unified cyber operations platform.</a:t>
            </a:r>
          </a:p>
        </p:txBody>
      </p:sp>
      <p:pic>
        <p:nvPicPr>
          <p:cNvPr id="4" name="object 2">
            <a:extLst>
              <a:ext uri="{FF2B5EF4-FFF2-40B4-BE49-F238E27FC236}">
                <a16:creationId xmlns:a16="http://schemas.microsoft.com/office/drawing/2014/main" id="{4D2FBF2A-309B-EB9A-20EB-9B388DBF62C9}"/>
              </a:ext>
            </a:extLst>
          </p:cNvPr>
          <p:cNvPicPr/>
          <p:nvPr/>
        </p:nvPicPr>
        <p:blipFill>
          <a:blip r:embed="rId2" cstate="print"/>
          <a:stretch>
            <a:fillRect/>
          </a:stretch>
        </p:blipFill>
        <p:spPr>
          <a:xfrm>
            <a:off x="0" y="5772150"/>
            <a:ext cx="1114995" cy="1085850"/>
          </a:xfrm>
          <a:prstGeom prst="rect">
            <a:avLst/>
          </a:prstGeom>
        </p:spPr>
      </p:pic>
      <p:sp>
        <p:nvSpPr>
          <p:cNvPr id="6" name="TextBox 5">
            <a:extLst>
              <a:ext uri="{FF2B5EF4-FFF2-40B4-BE49-F238E27FC236}">
                <a16:creationId xmlns:a16="http://schemas.microsoft.com/office/drawing/2014/main" id="{F0B7BD51-129C-B620-030D-EE735E92C8DC}"/>
              </a:ext>
            </a:extLst>
          </p:cNvPr>
          <p:cNvSpPr txBox="1"/>
          <p:nvPr/>
        </p:nvSpPr>
        <p:spPr>
          <a:xfrm>
            <a:off x="977964" y="6473529"/>
            <a:ext cx="7444675" cy="400110"/>
          </a:xfrm>
          <a:prstGeom prst="rect">
            <a:avLst/>
          </a:prstGeom>
          <a:noFill/>
        </p:spPr>
        <p:txBody>
          <a:bodyPr wrap="square">
            <a:spAutoFit/>
          </a:bodyPr>
          <a:lstStyle/>
          <a:p>
            <a:r>
              <a:rPr lang="en-US" sz="2000" b="1">
                <a:solidFill>
                  <a:srgbClr val="00B050"/>
                </a:solidFill>
                <a:highlight>
                  <a:srgbClr val="FFFF00"/>
                </a:highlight>
                <a:latin typeface="Algerian" panose="04020705040A02060702" pitchFamily="82" charset="0"/>
              </a:rPr>
              <a:t>SRI SHAKTHI INSTITUTE OF ENGINEERING </a:t>
            </a:r>
            <a:r>
              <a:rPr lang="en-IN" sz="2000" b="1" spc="-25">
                <a:solidFill>
                  <a:srgbClr val="00B050"/>
                </a:solidFill>
                <a:highlight>
                  <a:srgbClr val="FFFF00"/>
                </a:highlight>
                <a:latin typeface="Algerian" panose="04020705040A02060702" pitchFamily="82" charset="0"/>
              </a:rPr>
              <a:t>AND TECHNOLOGY</a:t>
            </a:r>
            <a:endParaRPr lang="en-IN" sz="2000">
              <a:solidFill>
                <a:srgbClr val="00B050"/>
              </a:solidFill>
              <a:highlight>
                <a:srgbClr val="FFFF00"/>
              </a:highlight>
            </a:endParaRPr>
          </a:p>
        </p:txBody>
      </p:sp>
      <p:pic>
        <p:nvPicPr>
          <p:cNvPr id="7" name="object 7">
            <a:extLst>
              <a:ext uri="{FF2B5EF4-FFF2-40B4-BE49-F238E27FC236}">
                <a16:creationId xmlns:a16="http://schemas.microsoft.com/office/drawing/2014/main" id="{9AF3EBD7-54A9-22EC-F952-E376EBBD440E}"/>
              </a:ext>
            </a:extLst>
          </p:cNvPr>
          <p:cNvPicPr/>
          <p:nvPr/>
        </p:nvPicPr>
        <p:blipFill>
          <a:blip r:embed="rId3" cstate="print"/>
          <a:stretch>
            <a:fillRect/>
          </a:stretch>
        </p:blipFill>
        <p:spPr>
          <a:xfrm>
            <a:off x="8029005" y="5986740"/>
            <a:ext cx="1114995" cy="8490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C210-0608-A7B6-763C-AEBCDB0A23B8}"/>
              </a:ext>
            </a:extLst>
          </p:cNvPr>
          <p:cNvSpPr>
            <a:spLocks noGrp="1"/>
          </p:cNvSpPr>
          <p:nvPr>
            <p:ph type="title"/>
          </p:nvPr>
        </p:nvSpPr>
        <p:spPr/>
        <p:txBody>
          <a:bodyPr>
            <a:normAutofit/>
          </a:bodyPr>
          <a:lstStyle/>
          <a:p>
            <a:r>
              <a:rPr lang="en-US" sz="3000" dirty="0">
                <a:solidFill>
                  <a:srgbClr val="FF0000"/>
                </a:solidFill>
              </a:rPr>
              <a:t>Abstract</a:t>
            </a:r>
            <a:endParaRPr lang="en-IN" sz="3000" dirty="0">
              <a:solidFill>
                <a:srgbClr val="FF0000"/>
              </a:solidFill>
            </a:endParaRPr>
          </a:p>
        </p:txBody>
      </p:sp>
      <p:sp>
        <p:nvSpPr>
          <p:cNvPr id="4" name="Rectangle 1">
            <a:extLst>
              <a:ext uri="{FF2B5EF4-FFF2-40B4-BE49-F238E27FC236}">
                <a16:creationId xmlns:a16="http://schemas.microsoft.com/office/drawing/2014/main" id="{90EC8939-F3A4-D3FC-4914-CD0385E7CC8A}"/>
              </a:ext>
            </a:extLst>
          </p:cNvPr>
          <p:cNvSpPr>
            <a:spLocks noGrp="1" noChangeArrowheads="1"/>
          </p:cNvSpPr>
          <p:nvPr>
            <p:ph idx="1"/>
          </p:nvPr>
        </p:nvSpPr>
        <p:spPr bwMode="auto">
          <a:xfrm>
            <a:off x="243839" y="1484162"/>
            <a:ext cx="8900161"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spcAft>
                <a:spcPts val="1200"/>
              </a:spcAft>
            </a:pPr>
            <a:r>
              <a:rPr sz="1800" b="0">
                <a:latin typeface="Times New Roman"/>
              </a:rPr>
              <a:t>The increasing volume and sophistication of cyberattacks have made Security Operations Centers (SOCs) critically dependent on rapid alert triage and automated investigation workflows. However, SOC analysts spend significant time navigating disconnected security platforms, incurring expensive API license fees, and manually correlating threat indicators across fragmented tool silos.</a:t>
            </a:r>
          </a:p>
          <a:p>
            <a:pPr algn="just"/>
            <a:r>
              <a:rPr sz="1800" b="0">
                <a:latin typeface="Times New Roman"/>
              </a:rPr>
              <a:t>This project presents SentinelAI X, an enterprise-grade AI-powered Security Copilot built on FastAPI and React 18 with an authentic Cyber Black &amp; Matrix Green operations interface. The platform establishes a live telemetry bridge to Wazuh SIEM v4.14.7 via sub-second JSON log ingestion and persistent multi-layer caching. It incorporates 16 Model Context Protocol (MCP) tools, featuring 6 zero-cost free feeds (abuse.ch MalwareBazaar &amp; URLhaus, CISA KEV, IP-API, CIRCL CVE, and MITRE ATT&amp;CK). Additionally, an enterprise Machine Learning Engine (IsolationForest &amp; RandomForest) evaluates behavioral baseline drift and scores zero-day anomalies (0–100). Integrated SOAR active defense delivers one-click firewall IP blackholing and host isolation, significantly accelerating end-to-end incident response.</a:t>
            </a:r>
          </a:p>
        </p:txBody>
      </p:sp>
    </p:spTree>
    <p:extLst>
      <p:ext uri="{BB962C8B-B14F-4D97-AF65-F5344CB8AC3E}">
        <p14:creationId xmlns:p14="http://schemas.microsoft.com/office/powerpoint/2010/main" val="6891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C75D70-6043-A6D7-00CD-B768902F5368}"/>
              </a:ext>
            </a:extLst>
          </p:cNvPr>
          <p:cNvSpPr txBox="1"/>
          <p:nvPr/>
        </p:nvSpPr>
        <p:spPr>
          <a:xfrm>
            <a:off x="1130709" y="766915"/>
            <a:ext cx="7472517" cy="4154984"/>
          </a:xfrm>
          <a:prstGeom prst="rect">
            <a:avLst/>
          </a:prstGeom>
          <a:noFill/>
        </p:spPr>
        <p:txBody>
          <a:bodyPr wrap="square">
            <a:spAutoFit/>
          </a:bodyPr>
          <a:lstStyle/>
          <a:p>
            <a:pPr algn="ctr">
              <a:spcAft>
                <a:spcPts val="800"/>
              </a:spcAft>
            </a:pPr>
            <a:r>
              <a:rPr sz="2400" b="1">
                <a:solidFill>
                  <a:srgbClr val="C00000"/>
                </a:solidFill>
                <a:latin typeface="Times New Roman"/>
              </a:rPr>
              <a:t>Existing System</a:t>
            </a:r>
          </a:p>
          <a:p>
            <a:pPr algn="l">
              <a:spcAft>
                <a:spcPts val="400"/>
              </a:spcAft>
            </a:pPr>
            <a:r>
              <a:rPr sz="1550" b="1" i="0">
                <a:solidFill>
                  <a:srgbClr val="1F2937"/>
                </a:solidFill>
                <a:latin typeface="Times New Roman"/>
              </a:rPr>
              <a:t>• Fragmented Security Architecture: </a:t>
            </a:r>
            <a:r>
              <a:rPr sz="1550" b="0" i="0">
                <a:solidFill>
                  <a:srgbClr val="1F2937"/>
                </a:solidFill>
                <a:latin typeface="Times New Roman"/>
              </a:rPr>
              <a:t>Analysts switch across disconnected SIEMs, threat portals, and sandboxes manually.</a:t>
            </a:r>
          </a:p>
          <a:p>
            <a:pPr algn="l">
              <a:spcAft>
                <a:spcPts val="400"/>
              </a:spcAft>
            </a:pPr>
            <a:r>
              <a:rPr sz="1550" b="1" i="0">
                <a:solidFill>
                  <a:srgbClr val="1F2937"/>
                </a:solidFill>
                <a:latin typeface="Times New Roman"/>
              </a:rPr>
              <a:t>• High Analyst Alert Fatigue: </a:t>
            </a:r>
            <a:r>
              <a:rPr sz="1550" b="0" i="0">
                <a:solidFill>
                  <a:srgbClr val="1F2937"/>
                </a:solidFill>
                <a:latin typeface="Times New Roman"/>
              </a:rPr>
              <a:t>Static threshold rules generate massive false positives with zero ML prioritization.</a:t>
            </a:r>
          </a:p>
          <a:p>
            <a:pPr algn="l">
              <a:spcAft>
                <a:spcPts val="400"/>
              </a:spcAft>
            </a:pPr>
            <a:r>
              <a:rPr sz="1550" b="1" i="0">
                <a:solidFill>
                  <a:srgbClr val="1F2937"/>
                </a:solidFill>
                <a:latin typeface="Times New Roman"/>
              </a:rPr>
              <a:t>• Expensive Operational Costs: </a:t>
            </a:r>
            <a:r>
              <a:rPr sz="1550" b="0" i="0">
                <a:solidFill>
                  <a:srgbClr val="1F2937"/>
                </a:solidFill>
                <a:latin typeface="Times New Roman"/>
              </a:rPr>
              <a:t>Heavy ongoing reliance on costly proprietary threat intelligence API subscriptions.</a:t>
            </a:r>
          </a:p>
          <a:p>
            <a:pPr algn="l">
              <a:spcAft>
                <a:spcPts val="1600"/>
              </a:spcAft>
            </a:pPr>
            <a:r>
              <a:rPr sz="1550" b="1" i="0">
                <a:solidFill>
                  <a:srgbClr val="1F2937"/>
                </a:solidFill>
                <a:latin typeface="Times New Roman"/>
              </a:rPr>
              <a:t>• Delayed Active Containment: </a:t>
            </a:r>
            <a:r>
              <a:rPr sz="1550" b="0" i="0">
                <a:solidFill>
                  <a:srgbClr val="1F2937"/>
                </a:solidFill>
                <a:latin typeface="Times New Roman"/>
              </a:rPr>
              <a:t>Firewall blocking and host quarantine require disconnected manual operational steps.</a:t>
            </a:r>
          </a:p>
          <a:p>
            <a:pPr algn="ctr">
              <a:spcAft>
                <a:spcPts val="800"/>
              </a:spcAft>
            </a:pPr>
            <a:r>
              <a:rPr sz="2400" b="1">
                <a:solidFill>
                  <a:srgbClr val="C00000"/>
                </a:solidFill>
                <a:latin typeface="Times New Roman"/>
              </a:rPr>
              <a:t>Our System — SentinelAI X</a:t>
            </a:r>
          </a:p>
          <a:p>
            <a:pPr algn="l">
              <a:spcAft>
                <a:spcPts val="400"/>
              </a:spcAft>
            </a:pPr>
            <a:r>
              <a:rPr sz="1550" b="1" i="0">
                <a:solidFill>
                  <a:srgbClr val="1F2937"/>
                </a:solidFill>
                <a:latin typeface="Times New Roman"/>
              </a:rPr>
              <a:t>• Autonomous MCP Tool Bus: </a:t>
            </a:r>
            <a:r>
              <a:rPr sz="1550" b="0" i="0">
                <a:solidFill>
                  <a:srgbClr val="1F2937"/>
                </a:solidFill>
                <a:latin typeface="Times New Roman"/>
              </a:rPr>
              <a:t>Standardized AI interface orchestrates 16 forensic tools and feeds concurrently.</a:t>
            </a:r>
          </a:p>
          <a:p>
            <a:pPr algn="l">
              <a:spcAft>
                <a:spcPts val="400"/>
              </a:spcAft>
            </a:pPr>
            <a:r>
              <a:rPr sz="1550" b="1" i="0">
                <a:solidFill>
                  <a:srgbClr val="1F2937"/>
                </a:solidFill>
                <a:latin typeface="Times New Roman"/>
              </a:rPr>
              <a:t>• Real Wazuh SIEM Telemetry: </a:t>
            </a:r>
            <a:r>
              <a:rPr sz="1550" b="0" i="0">
                <a:solidFill>
                  <a:srgbClr val="1F2937"/>
                </a:solidFill>
                <a:latin typeface="Times New Roman"/>
              </a:rPr>
              <a:t>Live sub-second JSON log ingestion backed by instant 0ms persistent dual cache.</a:t>
            </a:r>
          </a:p>
          <a:p>
            <a:pPr algn="l">
              <a:spcAft>
                <a:spcPts val="400"/>
              </a:spcAft>
            </a:pPr>
            <a:r>
              <a:rPr sz="1550" b="1" i="0">
                <a:solidFill>
                  <a:srgbClr val="1F2937"/>
                </a:solidFill>
                <a:latin typeface="Times New Roman"/>
              </a:rPr>
              <a:t>• Machine Learning Threat Engine: </a:t>
            </a:r>
            <a:r>
              <a:rPr sz="1550" b="0" i="0">
                <a:solidFill>
                  <a:srgbClr val="1F2937"/>
                </a:solidFill>
                <a:latin typeface="Times New Roman"/>
              </a:rPr>
              <a:t>IsolationForest anomaly scoring (0–100) &amp; RandomForest severity triage.</a:t>
            </a:r>
          </a:p>
          <a:p>
            <a:pPr algn="l">
              <a:spcAft>
                <a:spcPts val="400"/>
              </a:spcAft>
            </a:pPr>
            <a:r>
              <a:rPr sz="1550" b="1" i="0">
                <a:solidFill>
                  <a:srgbClr val="1F2937"/>
                </a:solidFill>
                <a:latin typeface="Times New Roman"/>
              </a:rPr>
              <a:t>• 100% Free Public SOC Feeds: </a:t>
            </a:r>
            <a:r>
              <a:rPr sz="1550" b="0" i="0">
                <a:solidFill>
                  <a:srgbClr val="1F2937"/>
                </a:solidFill>
                <a:latin typeface="Times New Roman"/>
              </a:rPr>
              <a:t>abuse.ch, CISA KEV, IP-API, and CIRCL integration with zero API license fees.</a:t>
            </a:r>
          </a:p>
          <a:p>
            <a:pPr algn="l"/>
            <a:r>
              <a:rPr sz="1550" b="1" i="0">
                <a:solidFill>
                  <a:srgbClr val="1F2937"/>
                </a:solidFill>
                <a:latin typeface="Times New Roman"/>
              </a:rPr>
              <a:t>• Automated SOAR Containment: </a:t>
            </a:r>
            <a:r>
              <a:rPr sz="1550" b="0" i="0">
                <a:solidFill>
                  <a:srgbClr val="1F2937"/>
                </a:solidFill>
                <a:latin typeface="Times New Roman"/>
              </a:rPr>
              <a:t>One-click gateway firewall drop rules and host subnet isolation with audit logs.</a:t>
            </a:r>
          </a:p>
        </p:txBody>
      </p:sp>
    </p:spTree>
    <p:extLst>
      <p:ext uri="{BB962C8B-B14F-4D97-AF65-F5344CB8AC3E}">
        <p14:creationId xmlns:p14="http://schemas.microsoft.com/office/powerpoint/2010/main" val="3449476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000" i="1" dirty="0">
                <a:solidFill>
                  <a:srgbClr val="FF0000"/>
                </a:solidFill>
              </a:rPr>
              <a:t>Proposed</a:t>
            </a:r>
            <a:r>
              <a:rPr sz="3000" dirty="0">
                <a:solidFill>
                  <a:srgbClr val="FF0000"/>
                </a:solidFill>
              </a:rPr>
              <a:t> Solution</a:t>
            </a:r>
          </a:p>
        </p:txBody>
      </p:sp>
      <p:sp>
        <p:nvSpPr>
          <p:cNvPr id="3" name="Content Placeholder 2"/>
          <p:cNvSpPr>
            <a:spLocks noGrp="1"/>
          </p:cNvSpPr>
          <p:nvPr>
            <p:ph idx="1"/>
          </p:nvPr>
        </p:nvSpPr>
        <p:spPr/>
        <p:txBody>
          <a:bodyPr vert="horz" lIns="91440" tIns="45720" rIns="91440" bIns="45720" rtlCol="0" anchor="t">
            <a:normAutofit lnSpcReduction="10000"/>
          </a:bodyPr>
          <a:lstStyle/>
          <a:p>
            <a:pPr algn="l">
              <a:spcAft>
                <a:spcPts val="700"/>
              </a:spcAft>
            </a:pPr>
            <a:r>
              <a:rPr sz="1700" b="1" i="0">
                <a:latin typeface="Times New Roman"/>
              </a:rPr>
              <a:t>Step 1: Real-time Telemetry Ingestion — </a:t>
            </a:r>
            <a:r>
              <a:rPr sz="1700" b="0" i="0">
                <a:latin typeface="Times New Roman"/>
              </a:rPr>
              <a:t>Monitored Windows &amp; Linux endpoints stream security events (Event ID 4624/4625, FIM, Defender) to Wazuh SIEM.</a:t>
            </a:r>
          </a:p>
          <a:p>
            <a:pPr algn="l">
              <a:spcAft>
                <a:spcPts val="700"/>
              </a:spcAft>
            </a:pPr>
            <a:r>
              <a:rPr sz="1700" b="1" i="0">
                <a:latin typeface="Times New Roman"/>
              </a:rPr>
              <a:t>Step 2: Sub-Second Log Parsing &amp; Caching — </a:t>
            </a:r>
            <a:r>
              <a:rPr sz="1700" b="0" i="0">
                <a:latin typeface="Times New Roman"/>
              </a:rPr>
              <a:t>FastAPI backend tails alerts.json and maintains in-memory RAM and disk caches for zero-lag triage.</a:t>
            </a:r>
          </a:p>
          <a:p>
            <a:pPr algn="l">
              <a:spcAft>
                <a:spcPts val="700"/>
              </a:spcAft>
            </a:pPr>
            <a:r>
              <a:rPr sz="1700" b="1" i="0">
                <a:latin typeface="Times New Roman"/>
              </a:rPr>
              <a:t>Step 3: Machine Learning Threat Scoring — </a:t>
            </a:r>
            <a:r>
              <a:rPr sz="1700" b="0" i="0">
                <a:latin typeface="Times New Roman"/>
              </a:rPr>
              <a:t>IsolationForest calculates behavioral anomaly risk (0–100), while RandomForest predicts incident severity.</a:t>
            </a:r>
          </a:p>
          <a:p>
            <a:pPr algn="l">
              <a:spcAft>
                <a:spcPts val="700"/>
              </a:spcAft>
            </a:pPr>
            <a:r>
              <a:rPr sz="1700" b="1" i="0">
                <a:latin typeface="Times New Roman"/>
              </a:rPr>
              <a:t>Step 4: Autonomous MCP Tool Dispatch — </a:t>
            </a:r>
            <a:r>
              <a:rPr sz="1700" b="0" i="0">
                <a:latin typeface="Times New Roman"/>
              </a:rPr>
              <a:t>AI Copilot extracts IOCs (IPs, Hashes, CVEs) and queries free intelligence feeds (MalwareBazaar, CISA KEV, IP-API, CIRCL).</a:t>
            </a:r>
          </a:p>
          <a:p>
            <a:pPr algn="l">
              <a:spcAft>
                <a:spcPts val="700"/>
              </a:spcAft>
            </a:pPr>
            <a:r>
              <a:rPr sz="1700" b="1" i="0">
                <a:latin typeface="Times New Roman"/>
              </a:rPr>
              <a:t>Step 5: MITRE ATT&amp;CK &amp; STIX Mapping — </a:t>
            </a:r>
            <a:r>
              <a:rPr sz="1700" b="0" i="0">
                <a:latin typeface="Times New Roman"/>
              </a:rPr>
              <a:t>Security events are dynamically mapped to adversary TTPs (T1059, T1110, T1486) and synthesized into forensic reports.</a:t>
            </a:r>
          </a:p>
          <a:p>
            <a:pPr algn="l">
              <a:spcAft>
                <a:spcPts val="700"/>
              </a:spcAft>
            </a:pPr>
            <a:r>
              <a:rPr sz="1700" b="1" i="0">
                <a:latin typeface="Times New Roman"/>
              </a:rPr>
              <a:t>Step 6: Conversational Security Copilot — </a:t>
            </a:r>
            <a:r>
              <a:rPr sz="1700" b="0" i="0">
                <a:latin typeface="Times New Roman"/>
              </a:rPr>
              <a:t>Natural language chat in plain English or Tamil/Tanglish assists analysts with deep contextual forensics.</a:t>
            </a:r>
          </a:p>
          <a:p>
            <a:pPr algn="l">
              <a:spcAft>
                <a:spcPts val="700"/>
              </a:spcAft>
            </a:pPr>
            <a:r>
              <a:rPr sz="1700" b="1" i="0">
                <a:latin typeface="Times New Roman"/>
              </a:rPr>
              <a:t>Step 7: Automated SOAR Containment — </a:t>
            </a:r>
            <a:r>
              <a:rPr sz="1700" b="0" i="0">
                <a:latin typeface="Times New Roman"/>
              </a:rPr>
              <a:t>One-click mitigation rules (Netsh firewall IP blackholing, host network isolation) execute with complete audit trails.</a:t>
            </a:r>
          </a:p>
        </p:txBody>
      </p:sp>
      <p:pic>
        <p:nvPicPr>
          <p:cNvPr id="4" name="object 7">
            <a:extLst>
              <a:ext uri="{FF2B5EF4-FFF2-40B4-BE49-F238E27FC236}">
                <a16:creationId xmlns:a16="http://schemas.microsoft.com/office/drawing/2014/main" id="{C48B1CC8-9F9C-8B33-45D3-A3E653A2F17D}"/>
              </a:ext>
            </a:extLst>
          </p:cNvPr>
          <p:cNvPicPr/>
          <p:nvPr/>
        </p:nvPicPr>
        <p:blipFill>
          <a:blip r:embed="rId2" cstate="print"/>
          <a:stretch>
            <a:fillRect/>
          </a:stretch>
        </p:blipFill>
        <p:spPr>
          <a:xfrm>
            <a:off x="8029005" y="5986740"/>
            <a:ext cx="1114995" cy="849086"/>
          </a:xfrm>
          <a:prstGeom prst="rect">
            <a:avLst/>
          </a:prstGeom>
        </p:spPr>
      </p:pic>
      <p:pic>
        <p:nvPicPr>
          <p:cNvPr id="5" name="object 2">
            <a:extLst>
              <a:ext uri="{FF2B5EF4-FFF2-40B4-BE49-F238E27FC236}">
                <a16:creationId xmlns:a16="http://schemas.microsoft.com/office/drawing/2014/main" id="{D69C815F-82AE-D303-41D9-2367BD82690C}"/>
              </a:ext>
            </a:extLst>
          </p:cNvPr>
          <p:cNvPicPr/>
          <p:nvPr/>
        </p:nvPicPr>
        <p:blipFill>
          <a:blip r:embed="rId3" cstate="print"/>
          <a:stretch>
            <a:fillRect/>
          </a:stretch>
        </p:blipFill>
        <p:spPr>
          <a:xfrm>
            <a:off x="0" y="5772150"/>
            <a:ext cx="1114995" cy="1085850"/>
          </a:xfrm>
          <a:prstGeom prst="rect">
            <a:avLst/>
          </a:prstGeom>
        </p:spPr>
      </p:pic>
      <p:sp>
        <p:nvSpPr>
          <p:cNvPr id="9" name="TextBox 8">
            <a:extLst>
              <a:ext uri="{FF2B5EF4-FFF2-40B4-BE49-F238E27FC236}">
                <a16:creationId xmlns:a16="http://schemas.microsoft.com/office/drawing/2014/main" id="{E9F37F2A-EF3B-1874-3DD4-F0CE779D6A83}"/>
              </a:ext>
            </a:extLst>
          </p:cNvPr>
          <p:cNvSpPr txBox="1"/>
          <p:nvPr/>
        </p:nvSpPr>
        <p:spPr>
          <a:xfrm>
            <a:off x="1016000" y="6457890"/>
            <a:ext cx="8026400" cy="400110"/>
          </a:xfrm>
          <a:prstGeom prst="rect">
            <a:avLst/>
          </a:prstGeom>
          <a:noFill/>
        </p:spPr>
        <p:txBody>
          <a:bodyPr wrap="square">
            <a:spAutoFit/>
          </a:bodyPr>
          <a:lstStyle/>
          <a:p>
            <a:r>
              <a:rPr lang="en-US" sz="2000" b="1">
                <a:solidFill>
                  <a:srgbClr val="00B050"/>
                </a:solidFill>
                <a:highlight>
                  <a:srgbClr val="FFFF00"/>
                </a:highlight>
                <a:latin typeface="Algerian" panose="04020705040A02060702" pitchFamily="82" charset="0"/>
              </a:rPr>
              <a:t>SRI SHAKTHI INSTITUTE OF ENGINEERING </a:t>
            </a:r>
            <a:r>
              <a:rPr lang="en-IN" sz="2000" b="1" spc="-25">
                <a:solidFill>
                  <a:srgbClr val="00B050"/>
                </a:solidFill>
                <a:highlight>
                  <a:srgbClr val="FFFF00"/>
                </a:highlight>
                <a:latin typeface="Algerian" panose="04020705040A02060702" pitchFamily="82" charset="0"/>
              </a:rPr>
              <a:t>AND TECHNOLOGY</a:t>
            </a:r>
            <a:endParaRPr lang="en-IN" sz="2000">
              <a:solidFill>
                <a:srgbClr val="00B050"/>
              </a:solidFill>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7A8B3-5373-8433-2CF2-4085851C3ADE}"/>
              </a:ext>
            </a:extLst>
          </p:cNvPr>
          <p:cNvSpPr>
            <a:spLocks noGrp="1"/>
          </p:cNvSpPr>
          <p:nvPr>
            <p:ph type="title"/>
          </p:nvPr>
        </p:nvSpPr>
        <p:spPr/>
        <p:txBody>
          <a:bodyPr>
            <a:normAutofit/>
          </a:bodyPr>
          <a:lstStyle/>
          <a:p>
            <a:r>
              <a:rPr lang="en-US" sz="3200" dirty="0">
                <a:solidFill>
                  <a:srgbClr val="FF0000"/>
                </a:solidFill>
              </a:rPr>
              <a:t>Modules</a:t>
            </a:r>
            <a:endParaRPr lang="en-IN" sz="3200" dirty="0">
              <a:solidFill>
                <a:srgbClr val="FF0000"/>
              </a:solidFill>
            </a:endParaRPr>
          </a:p>
        </p:txBody>
      </p:sp>
      <p:sp>
        <p:nvSpPr>
          <p:cNvPr id="3" name="Content Placeholder 2">
            <a:extLst>
              <a:ext uri="{FF2B5EF4-FFF2-40B4-BE49-F238E27FC236}">
                <a16:creationId xmlns:a16="http://schemas.microsoft.com/office/drawing/2014/main" id="{8286E919-5887-06FD-7978-B2FFC06FE78D}"/>
              </a:ext>
            </a:extLst>
          </p:cNvPr>
          <p:cNvSpPr>
            <a:spLocks noGrp="1"/>
          </p:cNvSpPr>
          <p:nvPr>
            <p:ph idx="1"/>
          </p:nvPr>
        </p:nvSpPr>
        <p:spPr/>
        <p:txBody>
          <a:bodyPr>
            <a:normAutofit/>
          </a:bodyPr>
          <a:lstStyle/>
          <a:p>
            <a:pPr algn="l">
              <a:spcAft>
                <a:spcPts val="500"/>
              </a:spcAft>
            </a:pPr>
            <a:r>
              <a:rPr sz="1900" b="1" i="0">
                <a:latin typeface="Times New Roman"/>
              </a:rPr>
              <a:t>1. Cyber SOC Command Center </a:t>
            </a:r>
            <a:r>
              <a:rPr sz="1900" b="0" i="0">
                <a:latin typeface="Times New Roman"/>
              </a:rPr>
              <a:t>(React 18 &amp; Matrix Green UI)</a:t>
            </a:r>
          </a:p>
          <a:p>
            <a:pPr algn="l">
              <a:spcAft>
                <a:spcPts val="500"/>
              </a:spcAft>
            </a:pPr>
            <a:r>
              <a:rPr sz="1900" b="1" i="0">
                <a:latin typeface="Times New Roman"/>
              </a:rPr>
              <a:t>2. Asynchronous Security API Engine </a:t>
            </a:r>
            <a:r>
              <a:rPr sz="1900" b="0" i="0">
                <a:latin typeface="Times New Roman"/>
              </a:rPr>
              <a:t>(FastAPI &amp; Uvicorn)</a:t>
            </a:r>
          </a:p>
          <a:p>
            <a:pPr algn="l">
              <a:spcAft>
                <a:spcPts val="500"/>
              </a:spcAft>
            </a:pPr>
            <a:r>
              <a:rPr sz="1900" b="1" i="0">
                <a:latin typeface="Times New Roman"/>
              </a:rPr>
              <a:t>3. Real Wazuh SIEM Telemetry Bridge &amp; Parser </a:t>
            </a:r>
            <a:r>
              <a:rPr sz="1900" b="0" i="0">
                <a:latin typeface="Times New Roman"/>
              </a:rPr>
              <a:t>(Continuous JSON Ingestion)</a:t>
            </a:r>
          </a:p>
          <a:p>
            <a:pPr algn="l">
              <a:spcAft>
                <a:spcPts val="500"/>
              </a:spcAft>
            </a:pPr>
            <a:r>
              <a:rPr sz="1900" b="1" i="0">
                <a:latin typeface="Times New Roman"/>
              </a:rPr>
              <a:t>4. Model Context Protocol (MCP) Multi-Tool Gateway </a:t>
            </a:r>
            <a:r>
              <a:rPr sz="1900" b="0" i="0">
                <a:latin typeface="Times New Roman"/>
              </a:rPr>
              <a:t>(16 Integrated Tools)</a:t>
            </a:r>
          </a:p>
          <a:p>
            <a:pPr algn="l">
              <a:spcAft>
                <a:spcPts val="500"/>
              </a:spcAft>
            </a:pPr>
            <a:r>
              <a:rPr sz="1900" b="1" i="0">
                <a:latin typeface="Times New Roman"/>
              </a:rPr>
              <a:t>5. Enterprise Machine Learning Threat Engine </a:t>
            </a:r>
            <a:r>
              <a:rPr sz="1900" b="0" i="0">
                <a:latin typeface="Times New Roman"/>
              </a:rPr>
              <a:t>(IsolationForest &amp; RandomForest)</a:t>
            </a:r>
          </a:p>
          <a:p>
            <a:pPr algn="l">
              <a:spcAft>
                <a:spcPts val="500"/>
              </a:spcAft>
            </a:pPr>
            <a:r>
              <a:rPr sz="1900" b="1" i="0">
                <a:latin typeface="Times New Roman"/>
              </a:rPr>
              <a:t>6. Zero-Key Free Threat Intelligence Feeds </a:t>
            </a:r>
            <a:r>
              <a:rPr sz="1900" b="0" i="0">
                <a:latin typeface="Times New Roman"/>
              </a:rPr>
              <a:t>(abuse.ch, CISA KEV, IP-API, CIRCL)</a:t>
            </a:r>
          </a:p>
          <a:p>
            <a:pPr algn="l">
              <a:spcAft>
                <a:spcPts val="500"/>
              </a:spcAft>
            </a:pPr>
            <a:r>
              <a:rPr sz="1900" b="1" i="0">
                <a:latin typeface="Times New Roman"/>
              </a:rPr>
              <a:t>7. SentinelAI Security Copilot </a:t>
            </a:r>
            <a:r>
              <a:rPr sz="1900" b="0" i="0">
                <a:latin typeface="Times New Roman"/>
              </a:rPr>
              <a:t>(Hero Conversational Chatbot)</a:t>
            </a:r>
          </a:p>
          <a:p>
            <a:pPr algn="l">
              <a:spcAft>
                <a:spcPts val="500"/>
              </a:spcAft>
            </a:pPr>
            <a:r>
              <a:rPr sz="1900" b="1" i="0">
                <a:latin typeface="Times New Roman"/>
              </a:rPr>
              <a:t>8. SOAR Active Defense &amp; Automated Network Containment </a:t>
            </a:r>
            <a:r>
              <a:rPr sz="1900" b="0" i="0">
                <a:latin typeface="Times New Roman"/>
              </a:rPr>
              <a:t>(1-Click Mitigation)</a:t>
            </a:r>
          </a:p>
          <a:p>
            <a:pPr algn="l">
              <a:spcAft>
                <a:spcPts val="500"/>
              </a:spcAft>
            </a:pPr>
            <a:r>
              <a:rPr sz="1900" b="1" i="0">
                <a:latin typeface="Times New Roman"/>
              </a:rPr>
              <a:t>9. Persistent Dual-Layer Cache System </a:t>
            </a:r>
            <a:r>
              <a:rPr sz="1900" b="0" i="0">
                <a:latin typeface="Times New Roman"/>
              </a:rPr>
              <a:t>(RAM + Disk + localStorage)</a:t>
            </a:r>
          </a:p>
          <a:p>
            <a:pPr algn="l">
              <a:spcAft>
                <a:spcPts val="500"/>
              </a:spcAft>
            </a:pPr>
            <a:r>
              <a:rPr sz="1900" b="1" i="0">
                <a:latin typeface="Times New Roman"/>
              </a:rPr>
              <a:t>10. Forensics Audit &amp; Executive Report Generator </a:t>
            </a:r>
            <a:r>
              <a:rPr sz="1900" b="0" i="0">
                <a:latin typeface="Times New Roman"/>
              </a:rPr>
              <a:t>(PDF &amp; Markdown Synthesis)</a:t>
            </a:r>
          </a:p>
        </p:txBody>
      </p:sp>
    </p:spTree>
    <p:extLst>
      <p:ext uri="{BB962C8B-B14F-4D97-AF65-F5344CB8AC3E}">
        <p14:creationId xmlns:p14="http://schemas.microsoft.com/office/powerpoint/2010/main" val="7312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22214-6FC9-BE44-A731-A3EF02090A80}"/>
              </a:ext>
            </a:extLst>
          </p:cNvPr>
          <p:cNvSpPr>
            <a:spLocks noGrp="1"/>
          </p:cNvSpPr>
          <p:nvPr>
            <p:ph type="title"/>
          </p:nvPr>
        </p:nvSpPr>
        <p:spPr/>
        <p:txBody>
          <a:bodyPr>
            <a:normAutofit/>
          </a:bodyPr>
          <a:lstStyle/>
          <a:p>
            <a:r>
              <a:rPr lang="en-US" sz="3200" dirty="0">
                <a:solidFill>
                  <a:srgbClr val="FF0000"/>
                </a:solidFill>
              </a:rPr>
              <a:t>Workflow</a:t>
            </a:r>
            <a:endParaRPr lang="en-IN" sz="3200" dirty="0">
              <a:solidFill>
                <a:srgbClr val="FF0000"/>
              </a:solidFill>
            </a:endParaRPr>
          </a:p>
        </p:txBody>
      </p:sp>
      <p:pic>
        <p:nvPicPr>
          <p:cNvPr id="5" name="Content Placeholder 4">
            <a:extLst>
              <a:ext uri="{FF2B5EF4-FFF2-40B4-BE49-F238E27FC236}">
                <a16:creationId xmlns:a16="http://schemas.microsoft.com/office/drawing/2014/main" id="{D959E190-10A9-5E67-68AF-7E920E90AE8F}"/>
              </a:ext>
            </a:extLst>
          </p:cNvPr>
          <p:cNvPicPr>
            <a:picLocks noGrp="1" noChangeAspect="1"/>
          </p:cNvPicPr>
          <p:nvPr>
            <p:ph idx="1"/>
          </p:nvPr>
        </p:nvPicPr>
        <p:blipFill>
          <a:blip r:embed="rId2"/>
          <a:stretch>
            <a:fillRect/>
          </a:stretch>
        </p:blipFill>
        <p:spPr>
          <a:xfrm>
            <a:off x="1177528" y="1248698"/>
            <a:ext cx="6788944" cy="4877466"/>
          </a:xfrm>
          <a:prstGeom prst="rect">
            <a:avLst/>
          </a:prstGeom>
        </p:spPr>
      </p:pic>
    </p:spTree>
    <p:extLst>
      <p:ext uri="{BB962C8B-B14F-4D97-AF65-F5344CB8AC3E}">
        <p14:creationId xmlns:p14="http://schemas.microsoft.com/office/powerpoint/2010/main" val="2691587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i="1" dirty="0">
                <a:solidFill>
                  <a:srgbClr val="FF0000"/>
                </a:solidFill>
                <a:ea typeface="Calibri"/>
                <a:cs typeface="Calibri"/>
              </a:rPr>
              <a:t>Tools Required</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lgn="l">
              <a:spcAft>
                <a:spcPts val="500"/>
              </a:spcAft>
              <a:buNone/>
            </a:pPr>
            <a:r>
              <a:rPr sz="1850" b="1" i="0">
                <a:latin typeface="Times New Roman"/>
              </a:rPr>
              <a:t>Backend Architecture: </a:t>
            </a:r>
            <a:r>
              <a:rPr sz="1850" b="0" i="0">
                <a:latin typeface="Times New Roman"/>
              </a:rPr>
              <a:t>Python 3.11, FastAPI, Uvicorn &amp; AsyncIO (Sub-second Log Processing)</a:t>
            </a:r>
            <a:endParaRPr lang="en-IN" sz="2400" b="1" dirty="0"/>
          </a:p>
          <a:p>
            <a:pPr algn="l">
              <a:spcAft>
                <a:spcPts val="500"/>
              </a:spcAft>
            </a:pPr>
            <a:r>
              <a:rPr sz="1850" b="1" i="0">
                <a:latin typeface="Times New Roman"/>
              </a:rPr>
              <a:t>Frontend Operations: </a:t>
            </a:r>
            <a:r>
              <a:rPr sz="1850" b="0" i="0">
                <a:latin typeface="Times New Roman"/>
              </a:rPr>
              <a:t>React 18, Vite 5 &amp; TailwindCSS (Cyber Black &amp; Matrix Green Theme)</a:t>
            </a:r>
          </a:p>
          <a:p>
            <a:pPr algn="l">
              <a:spcAft>
                <a:spcPts val="500"/>
              </a:spcAft>
            </a:pPr>
            <a:r>
              <a:rPr sz="1850" b="1" i="0">
                <a:latin typeface="Times New Roman"/>
              </a:rPr>
              <a:t>Protocol Standard: </a:t>
            </a:r>
            <a:r>
              <a:rPr sz="1850" b="0" i="0">
                <a:latin typeface="Times New Roman"/>
              </a:rPr>
              <a:t>Model Context Protocol (MCP Standardized Multi-Tool Interface)</a:t>
            </a:r>
          </a:p>
          <a:p>
            <a:pPr algn="l">
              <a:spcAft>
                <a:spcPts val="500"/>
              </a:spcAft>
            </a:pPr>
            <a:r>
              <a:rPr sz="1850" b="1" i="0">
                <a:latin typeface="Times New Roman"/>
              </a:rPr>
              <a:t>SIEM &amp; Telemetry: </a:t>
            </a:r>
            <a:r>
              <a:rPr sz="1850" b="0" i="0">
                <a:latin typeface="Times New Roman"/>
              </a:rPr>
              <a:t>Wazuh SIEM v4.14.7 Manager, VirtualBox Headless Guest Engine</a:t>
            </a:r>
          </a:p>
          <a:p>
            <a:pPr algn="l">
              <a:spcAft>
                <a:spcPts val="500"/>
              </a:spcAft>
            </a:pPr>
            <a:r>
              <a:rPr sz="1850" b="1" i="0">
                <a:latin typeface="Times New Roman"/>
              </a:rPr>
              <a:t>Machine Learning Engine: </a:t>
            </a:r>
            <a:r>
              <a:rPr sz="1850" b="0" i="0">
                <a:latin typeface="Times New Roman"/>
              </a:rPr>
              <a:t>scikit-learn (IsolationForest Anomaly &amp; RandomForest Classifier)</a:t>
            </a:r>
          </a:p>
          <a:p>
            <a:pPr algn="l">
              <a:spcAft>
                <a:spcPts val="500"/>
              </a:spcAft>
            </a:pPr>
            <a:r>
              <a:rPr sz="1850" b="1" i="0">
                <a:latin typeface="Times New Roman"/>
              </a:rPr>
              <a:t>Malware Intelligence: </a:t>
            </a:r>
            <a:r>
              <a:rPr sz="1850" b="0" i="0">
                <a:latin typeface="Times New Roman"/>
              </a:rPr>
              <a:t>abuse.ch MalwareBazaar (SHA256) &amp; URLhaus (C2 Payload Feeds)</a:t>
            </a:r>
          </a:p>
          <a:p>
            <a:pPr algn="l">
              <a:spcAft>
                <a:spcPts val="500"/>
              </a:spcAft>
            </a:pPr>
            <a:r>
              <a:rPr sz="1850" b="1" i="0">
                <a:latin typeface="Times New Roman"/>
              </a:rPr>
              <a:t>Vulnerability Catalogs: </a:t>
            </a:r>
            <a:r>
              <a:rPr sz="1850" b="0" i="0">
                <a:latin typeface="Times New Roman"/>
              </a:rPr>
              <a:t>CISA KEV (Known Exploited Catalog) &amp; CIRCL / OSV CVE Search</a:t>
            </a:r>
          </a:p>
          <a:p>
            <a:pPr algn="l">
              <a:spcAft>
                <a:spcPts val="500"/>
              </a:spcAft>
            </a:pPr>
            <a:r>
              <a:rPr sz="1850" b="1" i="0">
                <a:latin typeface="Times New Roman"/>
              </a:rPr>
              <a:t>Network Geolocation: </a:t>
            </a:r>
            <a:r>
              <a:rPr sz="1850" b="0" i="0">
                <a:latin typeface="Times New Roman"/>
              </a:rPr>
              <a:t>Free IP-API (City, Country, ISP, ASN &amp; Proxy Reverse DNS)</a:t>
            </a:r>
          </a:p>
          <a:p>
            <a:pPr algn="l">
              <a:spcAft>
                <a:spcPts val="500"/>
              </a:spcAft>
            </a:pPr>
            <a:r>
              <a:rPr sz="1850" b="1" i="0">
                <a:latin typeface="Times New Roman"/>
              </a:rPr>
              <a:t>Tactical Matrix: </a:t>
            </a:r>
            <a:r>
              <a:rPr sz="1850" b="0" i="0">
                <a:latin typeface="Times New Roman"/>
              </a:rPr>
              <a:t>MITRE ATT&amp;CK Enterprise Framework v15 (Adversary TTPs)</a:t>
            </a:r>
          </a:p>
          <a:p>
            <a:pPr algn="l">
              <a:spcAft>
                <a:spcPts val="500"/>
              </a:spcAft>
            </a:pPr>
            <a:r>
              <a:rPr sz="1850" b="1" i="0">
                <a:latin typeface="Times New Roman"/>
              </a:rPr>
              <a:t>Active Defense (SOAR): </a:t>
            </a:r>
            <a:r>
              <a:rPr sz="1850" b="0" i="0">
                <a:latin typeface="Times New Roman"/>
              </a:rPr>
              <a:t>Windows Netsh Firewall, Linux iptables &amp; Host Network Isolation</a:t>
            </a:r>
          </a:p>
        </p:txBody>
      </p:sp>
      <p:pic>
        <p:nvPicPr>
          <p:cNvPr id="4" name="object 7">
            <a:extLst>
              <a:ext uri="{FF2B5EF4-FFF2-40B4-BE49-F238E27FC236}">
                <a16:creationId xmlns:a16="http://schemas.microsoft.com/office/drawing/2014/main" id="{2DD33E42-841F-F45D-D6F0-F82B883826FC}"/>
              </a:ext>
            </a:extLst>
          </p:cNvPr>
          <p:cNvPicPr/>
          <p:nvPr/>
        </p:nvPicPr>
        <p:blipFill>
          <a:blip r:embed="rId2" cstate="print"/>
          <a:stretch>
            <a:fillRect/>
          </a:stretch>
        </p:blipFill>
        <p:spPr>
          <a:xfrm>
            <a:off x="8029005" y="5986740"/>
            <a:ext cx="1114995" cy="849086"/>
          </a:xfrm>
          <a:prstGeom prst="rect">
            <a:avLst/>
          </a:prstGeom>
        </p:spPr>
      </p:pic>
      <p:pic>
        <p:nvPicPr>
          <p:cNvPr id="5" name="object 2">
            <a:extLst>
              <a:ext uri="{FF2B5EF4-FFF2-40B4-BE49-F238E27FC236}">
                <a16:creationId xmlns:a16="http://schemas.microsoft.com/office/drawing/2014/main" id="{F2DCFFF1-1A04-3D1F-06A0-DA482B45CCA6}"/>
              </a:ext>
            </a:extLst>
          </p:cNvPr>
          <p:cNvPicPr/>
          <p:nvPr/>
        </p:nvPicPr>
        <p:blipFill>
          <a:blip r:embed="rId3" cstate="print"/>
          <a:stretch>
            <a:fillRect/>
          </a:stretch>
        </p:blipFill>
        <p:spPr>
          <a:xfrm>
            <a:off x="1" y="5897460"/>
            <a:ext cx="1016000" cy="960539"/>
          </a:xfrm>
          <a:prstGeom prst="rect">
            <a:avLst/>
          </a:prstGeom>
        </p:spPr>
      </p:pic>
      <p:sp>
        <p:nvSpPr>
          <p:cNvPr id="8" name="TextBox 7">
            <a:extLst>
              <a:ext uri="{FF2B5EF4-FFF2-40B4-BE49-F238E27FC236}">
                <a16:creationId xmlns:a16="http://schemas.microsoft.com/office/drawing/2014/main" id="{C04B75B5-8712-DD1D-6EB2-B3ECD95B91F1}"/>
              </a:ext>
            </a:extLst>
          </p:cNvPr>
          <p:cNvSpPr txBox="1"/>
          <p:nvPr/>
        </p:nvSpPr>
        <p:spPr>
          <a:xfrm>
            <a:off x="1016000" y="6457890"/>
            <a:ext cx="8026400" cy="400110"/>
          </a:xfrm>
          <a:prstGeom prst="rect">
            <a:avLst/>
          </a:prstGeom>
          <a:noFill/>
        </p:spPr>
        <p:txBody>
          <a:bodyPr wrap="square">
            <a:spAutoFit/>
          </a:bodyPr>
          <a:lstStyle/>
          <a:p>
            <a:r>
              <a:rPr lang="en-US" sz="2000" b="1">
                <a:solidFill>
                  <a:srgbClr val="00B050"/>
                </a:solidFill>
                <a:highlight>
                  <a:srgbClr val="FFFF00"/>
                </a:highlight>
                <a:latin typeface="Algerian" panose="04020705040A02060702" pitchFamily="82" charset="0"/>
              </a:rPr>
              <a:t>SRI SHAKTHI INSTITUTE OF ENGINEERING </a:t>
            </a:r>
            <a:r>
              <a:rPr lang="en-IN" sz="2000" b="1" spc="-25">
                <a:solidFill>
                  <a:srgbClr val="00B050"/>
                </a:solidFill>
                <a:highlight>
                  <a:srgbClr val="FFFF00"/>
                </a:highlight>
                <a:latin typeface="Algerian" panose="04020705040A02060702" pitchFamily="82" charset="0"/>
              </a:rPr>
              <a:t>AND TECHNOLOGY</a:t>
            </a:r>
            <a:endParaRPr lang="en-IN" sz="2000">
              <a:solidFill>
                <a:srgbClr val="00B050"/>
              </a:solidFill>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3CAD-4745-76E0-2BE3-89874DC45B5F}"/>
              </a:ext>
            </a:extLst>
          </p:cNvPr>
          <p:cNvSpPr>
            <a:spLocks noGrp="1"/>
          </p:cNvSpPr>
          <p:nvPr>
            <p:ph type="title"/>
          </p:nvPr>
        </p:nvSpPr>
        <p:spPr/>
        <p:txBody>
          <a:bodyPr>
            <a:normAutofit/>
          </a:bodyPr>
          <a:lstStyle/>
          <a:p>
            <a:r>
              <a:rPr lang="en-US" sz="3000" dirty="0">
                <a:solidFill>
                  <a:srgbClr val="FF0000"/>
                </a:solidFill>
              </a:rPr>
              <a:t>Reference</a:t>
            </a:r>
            <a:endParaRPr lang="en-IN" sz="3000" dirty="0">
              <a:solidFill>
                <a:srgbClr val="FF0000"/>
              </a:solidFill>
            </a:endParaRPr>
          </a:p>
        </p:txBody>
      </p:sp>
      <p:sp>
        <p:nvSpPr>
          <p:cNvPr id="4" name="Rectangle 1">
            <a:extLst>
              <a:ext uri="{FF2B5EF4-FFF2-40B4-BE49-F238E27FC236}">
                <a16:creationId xmlns:a16="http://schemas.microsoft.com/office/drawing/2014/main" id="{41684A77-2205-584B-F4B3-77A9D0B5E1E3}"/>
              </a:ext>
            </a:extLst>
          </p:cNvPr>
          <p:cNvSpPr>
            <a:spLocks noGrp="1" noChangeArrowheads="1"/>
          </p:cNvSpPr>
          <p:nvPr>
            <p:ph idx="1"/>
          </p:nvPr>
        </p:nvSpPr>
        <p:spPr bwMode="auto">
          <a:xfrm>
            <a:off x="137652" y="2137220"/>
            <a:ext cx="900634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028700" lvl="2" defTabSz="914400" eaLnBrk="0" fontAlgn="base" hangingPunct="0" algn="l">
              <a:spcBef>
                <a:spcPct val="0"/>
              </a:spcBef>
              <a:spcAft>
                <a:spcPts val="700"/>
              </a:spcAft>
              <a:buFont typeface="+mj-lt"/>
              <a:buAutoNum type="arabicPeriod"/>
            </a:pPr>
            <a:r>
              <a:rPr sz="1450" b="0" i="0">
                <a:latin typeface="Times New Roman"/>
              </a:rPr>
              <a:t>M. Kim et al., </a:t>
            </a:r>
            <a:r>
              <a:rPr sz="1450" b="1" i="0">
                <a:latin typeface="Times New Roman"/>
              </a:rPr>
              <a:t>"Enhancing Security Operations Center: Wazuh Security Event Response with Retrieval-Augmented-Generation-Driven Copilot (SERC)," </a:t>
            </a:r>
            <a:r>
              <a:rPr sz="1450" b="0" i="1">
                <a:latin typeface="Times New Roman"/>
              </a:rPr>
              <a:t>Sensors</a:t>
            </a:r>
            <a:r>
              <a:rPr sz="1450" b="0" i="0">
                <a:latin typeface="Times New Roman"/>
              </a:rPr>
              <a:t>, vol. 25, no. 3, 2025.</a:t>
            </a:r>
          </a:p>
          <a:p>
            <a:pPr algn="l" lvl="2">
              <a:spcAft>
                <a:spcPts val="700"/>
              </a:spcAft>
            </a:pPr>
            <a:r>
              <a:rPr sz="1450" b="0" i="0">
                <a:latin typeface="Times New Roman"/>
              </a:rPr>
              <a:t>Anthropic, </a:t>
            </a:r>
            <a:r>
              <a:rPr sz="1450" b="1" i="0">
                <a:latin typeface="Times New Roman"/>
              </a:rPr>
              <a:t>"Model Context Protocol (MCP) Specification &amp; Architecture," </a:t>
            </a:r>
            <a:r>
              <a:rPr sz="1450" b="0" i="0">
                <a:latin typeface="Times New Roman"/>
              </a:rPr>
              <a:t>2024–2025. https://modelcontextprotocol.io</a:t>
            </a:r>
          </a:p>
          <a:p>
            <a:pPr algn="l" lvl="2">
              <a:spcAft>
                <a:spcPts val="700"/>
              </a:spcAft>
            </a:pPr>
            <a:r>
              <a:rPr sz="1450" b="0" i="0">
                <a:latin typeface="Times New Roman"/>
              </a:rPr>
              <a:t>Cybersecurity and Infrastructure Security Agency (CISA), </a:t>
            </a:r>
            <a:r>
              <a:rPr sz="1450" b="1" i="0">
                <a:latin typeface="Times New Roman"/>
              </a:rPr>
              <a:t>"Known Exploited Vulnerabilities (KEV) Catalog," </a:t>
            </a:r>
            <a:r>
              <a:rPr sz="1450" b="0" i="0">
                <a:latin typeface="Times New Roman"/>
              </a:rPr>
              <a:t>US DHS, 2025–2026.</a:t>
            </a:r>
          </a:p>
          <a:p>
            <a:pPr algn="l" lvl="2">
              <a:spcAft>
                <a:spcPts val="700"/>
              </a:spcAft>
            </a:pPr>
            <a:r>
              <a:rPr sz="1450" b="0" i="0">
                <a:latin typeface="Times New Roman"/>
              </a:rPr>
              <a:t>abuse.ch, </a:t>
            </a:r>
            <a:r>
              <a:rPr sz="1450" b="1" i="0">
                <a:latin typeface="Times New Roman"/>
              </a:rPr>
              <a:t>"MalwareBazaar &amp; URLhaus Public Threat Intelligence Feeds," </a:t>
            </a:r>
            <a:r>
              <a:rPr sz="1450" b="0" i="0">
                <a:latin typeface="Times New Roman"/>
              </a:rPr>
              <a:t>2025. https://bazaar.abuse.ch</a:t>
            </a:r>
          </a:p>
          <a:p>
            <a:pPr algn="l" lvl="2">
              <a:spcAft>
                <a:spcPts val="700"/>
              </a:spcAft>
            </a:pPr>
            <a:r>
              <a:rPr sz="1450" b="0" i="0">
                <a:latin typeface="Times New Roman"/>
              </a:rPr>
              <a:t>MITRE Corporation, </a:t>
            </a:r>
            <a:r>
              <a:rPr sz="1450" b="1" i="0">
                <a:latin typeface="Times New Roman"/>
              </a:rPr>
              <a:t>"MITRE ATT&amp;CK Enterprise Matrix v15," </a:t>
            </a:r>
            <a:r>
              <a:rPr sz="1450" b="0" i="0">
                <a:latin typeface="Times New Roman"/>
              </a:rPr>
              <a:t>https://attack.mitre.org</a:t>
            </a:r>
          </a:p>
          <a:p>
            <a:pPr algn="l" lvl="2">
              <a:spcAft>
                <a:spcPts val="700"/>
              </a:spcAft>
            </a:pPr>
            <a:r>
              <a:rPr sz="1450" b="0" i="0">
                <a:latin typeface="Times New Roman"/>
              </a:rPr>
              <a:t>F. Pedregosa et al., </a:t>
            </a:r>
            <a:r>
              <a:rPr sz="1450" b="1" i="0">
                <a:latin typeface="Times New Roman"/>
              </a:rPr>
              <a:t>"Scikit-learn: Machine Learning in Python," </a:t>
            </a:r>
            <a:r>
              <a:rPr sz="1450" b="0" i="1">
                <a:latin typeface="Times New Roman"/>
              </a:rPr>
              <a:t>Journal of Machine Learning Research.</a:t>
            </a:r>
          </a:p>
          <a:p>
            <a:pPr algn="l" lvl="2">
              <a:spcAft>
                <a:spcPts val="700"/>
              </a:spcAft>
            </a:pPr>
            <a:r>
              <a:rPr sz="1450" b="0" i="0">
                <a:latin typeface="Times New Roman"/>
              </a:rPr>
              <a:t>Wazuh Documentation, </a:t>
            </a:r>
            <a:r>
              <a:rPr sz="1450" b="1" i="0">
                <a:latin typeface="Times New Roman"/>
              </a:rPr>
              <a:t>"Wazuh v4.14 Open Source Security Platform," </a:t>
            </a:r>
            <a:r>
              <a:rPr sz="1450" b="0" i="0">
                <a:latin typeface="Times New Roman"/>
              </a:rPr>
              <a:t>https://documentation.wazuh.com</a:t>
            </a:r>
          </a:p>
        </p:txBody>
      </p:sp>
    </p:spTree>
    <p:extLst>
      <p:ext uri="{BB962C8B-B14F-4D97-AF65-F5344CB8AC3E}">
        <p14:creationId xmlns:p14="http://schemas.microsoft.com/office/powerpoint/2010/main" val="2779395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000" i="1">
                <a:solidFill>
                  <a:srgbClr val="FF0000"/>
                </a:solidFill>
              </a:rPr>
              <a:t>Conclusion</a:t>
            </a:r>
          </a:p>
        </p:txBody>
      </p:sp>
      <p:sp>
        <p:nvSpPr>
          <p:cNvPr id="3" name="Content Placeholder 2"/>
          <p:cNvSpPr>
            <a:spLocks noGrp="1"/>
          </p:cNvSpPr>
          <p:nvPr>
            <p:ph idx="1"/>
          </p:nvPr>
        </p:nvSpPr>
        <p:spPr/>
        <p:txBody>
          <a:bodyPr vert="horz" lIns="91440" tIns="45720" rIns="91440" bIns="45720" rtlCol="0" anchor="t">
            <a:normAutofit/>
          </a:bodyPr>
          <a:lstStyle/>
          <a:p>
            <a:pPr lvl="1" algn="just">
              <a:spcAft>
                <a:spcPts val="1400"/>
              </a:spcAft>
              <a:buChar char="•"/>
            </a:pPr>
            <a:r>
              <a:rPr sz="1900" b="0">
                <a:latin typeface="Times New Roman"/>
              </a:rPr>
              <a:t>The proposed project introduces SentinelAI X, an enterprise-grade AI-powered Security Operations platform designed to dramatically accelerate modern SOC operations. By converging Real SIEM Telemetry (Wazuh v4.14.7), 16 Model Context Protocol (MCP) tools, and Applied Machine Learning (IsolationForest &amp; RandomForest), the system eliminates tool-switching, eliminates costly API licensing through free public feeds, and automates active containment.</a:t>
            </a:r>
            <a:endParaRPr lang="en-US" sz="2000" dirty="0">
              <a:ea typeface="Calibri"/>
              <a:cs typeface="Calibri"/>
            </a:endParaRPr>
          </a:p>
          <a:p>
            <a:pPr algn="just" lvl="1"/>
            <a:r>
              <a:rPr sz="1900" b="0">
                <a:latin typeface="Times New Roman"/>
              </a:rPr>
              <a:t>This work demonstrates the practical application of autonomous AI agents in enterprise cybersecurity defense, slashing Mean Time to Detect (MTTD) and Mean Time to Respond (MTTR) while establishing a solid foundation for future autonomous cyber defense systems.</a:t>
            </a:r>
          </a:p>
        </p:txBody>
      </p:sp>
      <p:pic>
        <p:nvPicPr>
          <p:cNvPr id="4" name="object 7">
            <a:extLst>
              <a:ext uri="{FF2B5EF4-FFF2-40B4-BE49-F238E27FC236}">
                <a16:creationId xmlns:a16="http://schemas.microsoft.com/office/drawing/2014/main" id="{22BE9802-DCF0-BD50-A253-FDF179F8B10B}"/>
              </a:ext>
            </a:extLst>
          </p:cNvPr>
          <p:cNvPicPr/>
          <p:nvPr/>
        </p:nvPicPr>
        <p:blipFill>
          <a:blip r:embed="rId2" cstate="print"/>
          <a:stretch>
            <a:fillRect/>
          </a:stretch>
        </p:blipFill>
        <p:spPr>
          <a:xfrm>
            <a:off x="8029005" y="5986740"/>
            <a:ext cx="1114995" cy="849086"/>
          </a:xfrm>
          <a:prstGeom prst="rect">
            <a:avLst/>
          </a:prstGeom>
        </p:spPr>
      </p:pic>
      <p:pic>
        <p:nvPicPr>
          <p:cNvPr id="5" name="object 2">
            <a:extLst>
              <a:ext uri="{FF2B5EF4-FFF2-40B4-BE49-F238E27FC236}">
                <a16:creationId xmlns:a16="http://schemas.microsoft.com/office/drawing/2014/main" id="{42AAB40E-C895-D3C8-1F77-EB4D227FDDDB}"/>
              </a:ext>
            </a:extLst>
          </p:cNvPr>
          <p:cNvPicPr/>
          <p:nvPr/>
        </p:nvPicPr>
        <p:blipFill>
          <a:blip r:embed="rId3" cstate="print"/>
          <a:stretch>
            <a:fillRect/>
          </a:stretch>
        </p:blipFill>
        <p:spPr>
          <a:xfrm>
            <a:off x="0" y="5772150"/>
            <a:ext cx="1114995" cy="1085850"/>
          </a:xfrm>
          <a:prstGeom prst="rect">
            <a:avLst/>
          </a:prstGeom>
        </p:spPr>
      </p:pic>
      <p:sp>
        <p:nvSpPr>
          <p:cNvPr id="7" name="TextBox 6">
            <a:extLst>
              <a:ext uri="{FF2B5EF4-FFF2-40B4-BE49-F238E27FC236}">
                <a16:creationId xmlns:a16="http://schemas.microsoft.com/office/drawing/2014/main" id="{CE492624-0CAA-7273-EEE7-D7F22A126D7D}"/>
              </a:ext>
            </a:extLst>
          </p:cNvPr>
          <p:cNvSpPr txBox="1"/>
          <p:nvPr/>
        </p:nvSpPr>
        <p:spPr>
          <a:xfrm>
            <a:off x="993074" y="6488668"/>
            <a:ext cx="8029005" cy="400110"/>
          </a:xfrm>
          <a:prstGeom prst="rect">
            <a:avLst/>
          </a:prstGeom>
          <a:noFill/>
        </p:spPr>
        <p:txBody>
          <a:bodyPr wrap="square">
            <a:spAutoFit/>
          </a:bodyPr>
          <a:lstStyle/>
          <a:p>
            <a:r>
              <a:rPr lang="en-US" sz="2000" b="1">
                <a:solidFill>
                  <a:srgbClr val="00B050"/>
                </a:solidFill>
                <a:highlight>
                  <a:srgbClr val="FFFF00"/>
                </a:highlight>
                <a:latin typeface="Algerian" panose="04020705040A02060702" pitchFamily="82" charset="0"/>
              </a:rPr>
              <a:t>SRI SHAKTHI INSTITUTE OF ENGINEERING </a:t>
            </a:r>
            <a:r>
              <a:rPr lang="en-IN" sz="2000" b="1" spc="-25">
                <a:solidFill>
                  <a:srgbClr val="00B050"/>
                </a:solidFill>
                <a:highlight>
                  <a:srgbClr val="FFFF00"/>
                </a:highlight>
                <a:latin typeface="Algerian" panose="04020705040A02060702" pitchFamily="82" charset="0"/>
              </a:rPr>
              <a:t>AND TECHNOLOGY</a:t>
            </a:r>
            <a:endParaRPr lang="en-IN" sz="2000">
              <a:solidFill>
                <a:srgbClr val="00B050"/>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BCBAD7D-82F2-C403-F7B6-0D992197DE36}"/>
              </a:ext>
            </a:extLst>
          </p:cNvPr>
          <p:cNvPicPr>
            <a:picLocks noGrp="1" noChangeAspect="1"/>
          </p:cNvPicPr>
          <p:nvPr>
            <p:ph idx="1"/>
          </p:nvPr>
        </p:nvPicPr>
        <p:blipFill>
          <a:blip r:embed="rId2"/>
          <a:stretch>
            <a:fillRect/>
          </a:stretch>
        </p:blipFill>
        <p:spPr>
          <a:xfrm>
            <a:off x="0" y="0"/>
            <a:ext cx="9092803" cy="6835825"/>
          </a:xfrm>
          <a:prstGeom prst="rect">
            <a:avLst/>
          </a:prstGeom>
        </p:spPr>
      </p:pic>
      <p:pic>
        <p:nvPicPr>
          <p:cNvPr id="5" name="object 2">
            <a:extLst>
              <a:ext uri="{FF2B5EF4-FFF2-40B4-BE49-F238E27FC236}">
                <a16:creationId xmlns:a16="http://schemas.microsoft.com/office/drawing/2014/main" id="{07137D39-30F8-1D83-ED93-01A2B4711D19}"/>
              </a:ext>
            </a:extLst>
          </p:cNvPr>
          <p:cNvPicPr/>
          <p:nvPr/>
        </p:nvPicPr>
        <p:blipFill>
          <a:blip r:embed="rId3" cstate="print"/>
          <a:stretch>
            <a:fillRect/>
          </a:stretch>
        </p:blipFill>
        <p:spPr>
          <a:xfrm>
            <a:off x="0" y="5749976"/>
            <a:ext cx="1114995" cy="1085850"/>
          </a:xfrm>
          <a:prstGeom prst="rect">
            <a:avLst/>
          </a:prstGeom>
        </p:spPr>
      </p:pic>
      <p:sp>
        <p:nvSpPr>
          <p:cNvPr id="7" name="TextBox 6">
            <a:extLst>
              <a:ext uri="{FF2B5EF4-FFF2-40B4-BE49-F238E27FC236}">
                <a16:creationId xmlns:a16="http://schemas.microsoft.com/office/drawing/2014/main" id="{085C546B-EB99-F1DF-36B5-69E2A9B9E797}"/>
              </a:ext>
            </a:extLst>
          </p:cNvPr>
          <p:cNvSpPr txBox="1"/>
          <p:nvPr/>
        </p:nvSpPr>
        <p:spPr>
          <a:xfrm rot="-10800000" flipV="1">
            <a:off x="1003788" y="6454429"/>
            <a:ext cx="732772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baseline="0">
                <a:solidFill>
                  <a:srgbClr val="00B050"/>
                </a:solidFill>
                <a:highlight>
                  <a:srgbClr val="FFFF00"/>
                </a:highlight>
                <a:latin typeface="Algerian"/>
              </a:rPr>
              <a:t>SRI SHAKTHI INSTITUTE OF ENGINEERING </a:t>
            </a:r>
            <a:r>
              <a:rPr lang="en-IN" sz="2000" b="1">
                <a:solidFill>
                  <a:srgbClr val="00B050"/>
                </a:solidFill>
                <a:highlight>
                  <a:srgbClr val="FFFF00"/>
                </a:highlight>
                <a:latin typeface="Algerian"/>
              </a:rPr>
              <a:t>AND TECHNOLOGY</a:t>
            </a:r>
            <a:r>
              <a:rPr sz="2000">
                <a:latin typeface="Algerian"/>
                <a:ea typeface="Algerian"/>
                <a:cs typeface="Algerian"/>
              </a:rPr>
              <a:t>​</a:t>
            </a:r>
            <a:endParaRPr lang="en-US"/>
          </a:p>
        </p:txBody>
      </p:sp>
      <p:pic>
        <p:nvPicPr>
          <p:cNvPr id="9" name="object 7">
            <a:extLst>
              <a:ext uri="{FF2B5EF4-FFF2-40B4-BE49-F238E27FC236}">
                <a16:creationId xmlns:a16="http://schemas.microsoft.com/office/drawing/2014/main" id="{CAF9BED2-AF0F-9E59-67FD-5DE1847E080C}"/>
              </a:ext>
            </a:extLst>
          </p:cNvPr>
          <p:cNvPicPr/>
          <p:nvPr/>
        </p:nvPicPr>
        <p:blipFill>
          <a:blip r:embed="rId4" cstate="print"/>
          <a:stretch>
            <a:fillRect/>
          </a:stretch>
        </p:blipFill>
        <p:spPr>
          <a:xfrm>
            <a:off x="8029005" y="5986740"/>
            <a:ext cx="1114995" cy="849086"/>
          </a:xfrm>
          <a:prstGeom prst="rect">
            <a:avLst/>
          </a:prstGeom>
        </p:spPr>
      </p:pic>
      <p:sp>
        <p:nvSpPr>
          <p:cNvPr id="10" name="Title 9">
            <a:extLst>
              <a:ext uri="{FF2B5EF4-FFF2-40B4-BE49-F238E27FC236}">
                <a16:creationId xmlns:a16="http://schemas.microsoft.com/office/drawing/2014/main" id="{12DDE079-744D-32A4-FCF1-8B5F6C770CF9}"/>
              </a:ext>
            </a:extLst>
          </p:cNvPr>
          <p:cNvSpPr>
            <a:spLocks noGrp="1"/>
          </p:cNvSpPr>
          <p:nvPr>
            <p:ph type="title"/>
          </p:nvPr>
        </p:nvSpPr>
        <p:spPr/>
        <p:txBody>
          <a:bodyPr/>
          <a:lstStyle/>
          <a:p/>
        </p:txBody>
      </p:sp>
    </p:spTree>
    <p:extLst>
      <p:ext uri="{BB962C8B-B14F-4D97-AF65-F5344CB8AC3E}">
        <p14:creationId xmlns:p14="http://schemas.microsoft.com/office/powerpoint/2010/main" val="3516161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282</TotalTime>
  <Words>775</Words>
  <Application>Microsoft Office PowerPoint</Application>
  <PresentationFormat>On-screen Show (4:3)</PresentationFormat>
  <Paragraphs>85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Algerian</vt:lpstr>
      <vt:lpstr>Arial</vt:lpstr>
      <vt:lpstr>Calibri</vt:lpstr>
      <vt:lpstr>Times New Roman</vt:lpstr>
      <vt:lpstr>Office Theme</vt:lpstr>
      <vt:lpstr>PowerPoint Presentation</vt:lpstr>
      <vt:lpstr>Problem Statement</vt:lpstr>
      <vt:lpstr>Abstract</vt:lpstr>
      <vt:lpstr>PowerPoint Presentation</vt:lpstr>
      <vt:lpstr>Proposed Solution</vt:lpstr>
      <vt:lpstr>Modules</vt:lpstr>
      <vt:lpstr>Workflow</vt:lpstr>
      <vt:lpstr>Tools Required</vt:lpstr>
      <vt:lpstr>Reference</vt:lpstr>
      <vt:lpstr>Conclusion</vt:lpstr>
      <vt:lpst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mathesh t</cp:lastModifiedBy>
  <cp:revision>6</cp:revision>
  <dcterms:created xsi:type="dcterms:W3CDTF">2013-01-27T09:14:16Z</dcterms:created>
  <dcterms:modified xsi:type="dcterms:W3CDTF">2026-09-24T16:20:45Z</dcterms:modified>
  <cp:category/>
</cp:coreProperties>
</file>